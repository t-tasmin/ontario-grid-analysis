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95" r:id="rId2"/>
  </p:sldMasterIdLst>
  <p:notesMasterIdLst>
    <p:notesMasterId r:id="rId36"/>
  </p:notesMasterIdLst>
  <p:sldIdLst>
    <p:sldId id="256" r:id="rId3"/>
    <p:sldId id="257" r:id="rId4"/>
    <p:sldId id="280" r:id="rId5"/>
    <p:sldId id="258" r:id="rId6"/>
    <p:sldId id="310" r:id="rId7"/>
    <p:sldId id="259" r:id="rId8"/>
    <p:sldId id="282" r:id="rId9"/>
    <p:sldId id="283" r:id="rId10"/>
    <p:sldId id="260" r:id="rId11"/>
    <p:sldId id="284" r:id="rId12"/>
    <p:sldId id="286" r:id="rId13"/>
    <p:sldId id="287" r:id="rId14"/>
    <p:sldId id="288" r:id="rId15"/>
    <p:sldId id="289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303" r:id="rId24"/>
    <p:sldId id="302" r:id="rId25"/>
    <p:sldId id="306" r:id="rId26"/>
    <p:sldId id="301" r:id="rId27"/>
    <p:sldId id="304" r:id="rId28"/>
    <p:sldId id="305" r:id="rId29"/>
    <p:sldId id="309" r:id="rId30"/>
    <p:sldId id="307" r:id="rId31"/>
    <p:sldId id="308" r:id="rId32"/>
    <p:sldId id="279" r:id="rId33"/>
    <p:sldId id="281" r:id="rId34"/>
    <p:sldId id="311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FC4E5-6C6D-4FD2-B0C8-B8AB8A6F01E0}" type="datetimeFigureOut">
              <a:rPr lang="en-CA" smtClean="0"/>
              <a:t>2025-09-10</a:t>
            </a:fld>
            <a:endParaRPr lang="en-C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0E575-CECF-43CC-BFA3-2B91F6F4D36A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1937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</a:t>
            </a:r>
            <a:r>
              <a:rPr lang="en-US" b="1" dirty="0"/>
              <a:t>energy demand</a:t>
            </a:r>
            <a:r>
              <a:rPr lang="en-US" dirty="0"/>
              <a:t> is measured in </a:t>
            </a:r>
            <a:r>
              <a:rPr lang="en-US" b="1" dirty="0"/>
              <a:t>MW (megawatts)</a:t>
            </a:r>
            <a:r>
              <a:rPr lang="en-US" dirty="0"/>
              <a:t>, which is a rate of power at a point in time.</a:t>
            </a:r>
          </a:p>
          <a:p>
            <a:r>
              <a:rPr lang="en-US" dirty="0"/>
              <a:t>When you </a:t>
            </a:r>
            <a:r>
              <a:rPr lang="en-US" b="1" dirty="0"/>
              <a:t>sum hourly MW values over a day</a:t>
            </a:r>
            <a:r>
              <a:rPr lang="en-US" dirty="0"/>
              <a:t>, you are effectively integrating power over time.</a:t>
            </a:r>
          </a:p>
          <a:p>
            <a:r>
              <a:rPr lang="en-US" dirty="0"/>
              <a:t>Since 1 MW × 1 hour = 1 MWh (megawatt-hour), summing 24 hourly MW readings gives the </a:t>
            </a:r>
            <a:r>
              <a:rPr lang="en-US" b="1" dirty="0"/>
              <a:t>daily energy in MWh</a:t>
            </a:r>
            <a:r>
              <a:rPr lang="en-US" dirty="0"/>
              <a:t>.</a:t>
            </a:r>
          </a:p>
          <a:p>
            <a:r>
              <a:rPr lang="en-US" dirty="0"/>
              <a:t>✅ So your daily demand will indeed be in </a:t>
            </a:r>
            <a:r>
              <a:rPr lang="en-US" b="1" dirty="0"/>
              <a:t>MWh</a:t>
            </a:r>
            <a:r>
              <a:rPr lang="en-US" dirty="0"/>
              <a:t>, not MW.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0E575-CECF-43CC-BFA3-2B91F6F4D36A}" type="slidenum">
              <a:rPr lang="en-CA" smtClean="0"/>
              <a:t>11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73798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8D49A-30D4-2660-E5B0-61984462E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950BED-BA30-0817-A1C3-34988A7D2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11486-454A-A4DC-9121-28EF684F83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</a:t>
            </a:r>
            <a:r>
              <a:rPr lang="en-US" b="1" dirty="0"/>
              <a:t>energy demand</a:t>
            </a:r>
            <a:r>
              <a:rPr lang="en-US" dirty="0"/>
              <a:t> is measured in </a:t>
            </a:r>
            <a:r>
              <a:rPr lang="en-US" b="1" dirty="0"/>
              <a:t>MW (megawatts)</a:t>
            </a:r>
            <a:r>
              <a:rPr lang="en-US" dirty="0"/>
              <a:t>, which is a rate of power at a point in time.</a:t>
            </a:r>
          </a:p>
          <a:p>
            <a:r>
              <a:rPr lang="en-US" dirty="0"/>
              <a:t>When you </a:t>
            </a:r>
            <a:r>
              <a:rPr lang="en-US" b="1" dirty="0"/>
              <a:t>sum hourly MW values over a day</a:t>
            </a:r>
            <a:r>
              <a:rPr lang="en-US" dirty="0"/>
              <a:t>, you are effectively integrating power over time.</a:t>
            </a:r>
          </a:p>
          <a:p>
            <a:r>
              <a:rPr lang="en-US" dirty="0"/>
              <a:t>Since 1 MW × 1 hour = 1 MWh (megawatt-hour), summing 24 hourly MW readings gives the </a:t>
            </a:r>
            <a:r>
              <a:rPr lang="en-US" b="1" dirty="0"/>
              <a:t>daily energy in MWh</a:t>
            </a:r>
            <a:r>
              <a:rPr lang="en-US" dirty="0"/>
              <a:t>.</a:t>
            </a:r>
          </a:p>
          <a:p>
            <a:r>
              <a:rPr lang="en-US" dirty="0"/>
              <a:t>✅ So your daily demand will indeed be in </a:t>
            </a:r>
            <a:r>
              <a:rPr lang="en-US" b="1" dirty="0"/>
              <a:t>MWh</a:t>
            </a:r>
            <a:r>
              <a:rPr lang="en-US" dirty="0"/>
              <a:t>, not MW.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54A07-5DC6-4AD5-B137-167DB2B89B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0E575-CECF-43CC-BFA3-2B91F6F4D36A}" type="slidenum">
              <a:rPr lang="en-CA" smtClean="0"/>
              <a:t>12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42225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010C5-E924-1FF9-479A-CD5E58DF1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14DC8-FAA7-9F35-6D06-EC2B91A11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3AD6C-B665-C9C5-86D5-6687EFDED5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</a:t>
            </a:r>
            <a:r>
              <a:rPr lang="en-US" b="1" dirty="0"/>
              <a:t>energy demand</a:t>
            </a:r>
            <a:r>
              <a:rPr lang="en-US" dirty="0"/>
              <a:t> is measured in </a:t>
            </a:r>
            <a:r>
              <a:rPr lang="en-US" b="1" dirty="0"/>
              <a:t>MW (megawatts)</a:t>
            </a:r>
            <a:r>
              <a:rPr lang="en-US" dirty="0"/>
              <a:t>, which is a rate of power at a point in time.</a:t>
            </a:r>
          </a:p>
          <a:p>
            <a:r>
              <a:rPr lang="en-US" dirty="0"/>
              <a:t>When you </a:t>
            </a:r>
            <a:r>
              <a:rPr lang="en-US" b="1" dirty="0"/>
              <a:t>sum hourly MW values over a day</a:t>
            </a:r>
            <a:r>
              <a:rPr lang="en-US" dirty="0"/>
              <a:t>, you are effectively integrating power over time.</a:t>
            </a:r>
          </a:p>
          <a:p>
            <a:r>
              <a:rPr lang="en-US" dirty="0"/>
              <a:t>Since 1 MW × 1 hour = 1 MWh (megawatt-hour), summing 24 hourly MW readings gives the </a:t>
            </a:r>
            <a:r>
              <a:rPr lang="en-US" b="1" dirty="0"/>
              <a:t>daily energy in MWh</a:t>
            </a:r>
            <a:r>
              <a:rPr lang="en-US" dirty="0"/>
              <a:t>.</a:t>
            </a:r>
          </a:p>
          <a:p>
            <a:r>
              <a:rPr lang="en-US" dirty="0"/>
              <a:t>✅ So your daily demand will indeed be in </a:t>
            </a:r>
            <a:r>
              <a:rPr lang="en-US" b="1" dirty="0"/>
              <a:t>MWh</a:t>
            </a:r>
            <a:r>
              <a:rPr lang="en-US" dirty="0"/>
              <a:t>, not MW.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FACF3-FF09-D3DE-C22A-3402A608C6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0E575-CECF-43CC-BFA3-2B91F6F4D36A}" type="slidenum">
              <a:rPr lang="en-CA" smtClean="0"/>
              <a:t>13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1237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CF6F3-85DF-2F0A-E8C5-F25C75F4B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FC5431-61B3-F224-1060-0E9210D02D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F0F9D4-739D-9383-C83B-7BE0A932D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</a:t>
            </a:r>
            <a:r>
              <a:rPr lang="en-US" b="1" dirty="0"/>
              <a:t>energy demand</a:t>
            </a:r>
            <a:r>
              <a:rPr lang="en-US" dirty="0"/>
              <a:t> is measured in </a:t>
            </a:r>
            <a:r>
              <a:rPr lang="en-US" b="1" dirty="0"/>
              <a:t>MW (megawatts)</a:t>
            </a:r>
            <a:r>
              <a:rPr lang="en-US" dirty="0"/>
              <a:t>, which is a rate of power at a point in time.</a:t>
            </a:r>
          </a:p>
          <a:p>
            <a:r>
              <a:rPr lang="en-US" dirty="0"/>
              <a:t>When you </a:t>
            </a:r>
            <a:r>
              <a:rPr lang="en-US" b="1" dirty="0"/>
              <a:t>sum hourly MW values over a day</a:t>
            </a:r>
            <a:r>
              <a:rPr lang="en-US" dirty="0"/>
              <a:t>, you are effectively integrating power over time.</a:t>
            </a:r>
          </a:p>
          <a:p>
            <a:r>
              <a:rPr lang="en-US" dirty="0"/>
              <a:t>Since 1 MW × 1 hour = 1 MWh (megawatt-hour), summing 24 hourly MW readings gives the </a:t>
            </a:r>
            <a:r>
              <a:rPr lang="en-US" b="1" dirty="0"/>
              <a:t>daily energy in MWh</a:t>
            </a:r>
            <a:r>
              <a:rPr lang="en-US" dirty="0"/>
              <a:t>.</a:t>
            </a:r>
          </a:p>
          <a:p>
            <a:r>
              <a:rPr lang="en-US" dirty="0"/>
              <a:t>✅ So your daily demand will indeed be in </a:t>
            </a:r>
            <a:r>
              <a:rPr lang="en-US" b="1" dirty="0"/>
              <a:t>MWh</a:t>
            </a:r>
            <a:r>
              <a:rPr lang="en-US" dirty="0"/>
              <a:t>, not MW.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DA9DE-A1C8-99C4-B7EB-3CF79D8E4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0E575-CECF-43CC-BFA3-2B91F6F4D36A}" type="slidenum">
              <a:rPr lang="en-CA" smtClean="0"/>
              <a:t>14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7083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0E575-CECF-43CC-BFA3-2B91F6F4D36A}" type="slidenum">
              <a:rPr lang="en-CA" smtClean="0"/>
              <a:t>30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64345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50B31-AAA6-4152-A067-1056ACA1D45E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A23E5-453F-45C0-9401-C2AF964EDED3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14302-7920-49BF-9731-57E4356A1ACB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3FD1B-17FE-4175-A499-B4A0DFDD1869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C2444-021B-4CDB-AC61-38F22FDEA64E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C86B5-E63E-42A4-8D19-663C9FA5697E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91CBA-61CB-4527-BF03-A461C53CAA40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8537-7142-4733-97B6-D292D26197EC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39B32-E26A-4938-89AC-E92A875AF2F1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B6C5A-78EF-4250-A2B4-5D6BA0F18FD2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2D16D9-8A40-4535-A49F-3177A6B36CB8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9E82D-CD70-4712-AF19-685048B84F1A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399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E9C1B-8FA4-4B7F-B41D-478BEAE6FE15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553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6E7E1-5C67-4884-96D4-68811E7B428D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489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3BD5E-C1E4-4A2B-9B11-79BD1830AC7B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947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850EB-25F0-47E3-ABE1-FBF111BEA35C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141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B626A-2D55-494A-A19A-A762942D6C6A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2724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BFA0A-A403-423A-898B-9606304644A7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6822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2EB3C-6117-49B7-BBBD-4C859258DE1B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5993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8C98-8984-45A8-B776-27EC663E64B8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801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3BED0-AF6C-4CBC-83A4-02680CE0E29D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0703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4D66F-D919-4299-8882-D6B5EDC1A6A3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1466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674D-0DB6-4A9F-BD6F-D40164BC408F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640171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4F828-6F10-4F08-A49B-C784072A0B75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0059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5DD39-2A70-49B8-86C9-496744FF2534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00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A8AA3-8131-415A-B5F3-0EC1113DE511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156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53BE7-746E-4AE6-8E73-7CDA84C10BA2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6545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689A0-DA17-4303-B68F-06D0CB686FDD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34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1CADB0-3FA9-4069-93D8-891BBDB0E644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91C25BF-E4C6-4A4C-B8AE-31F2A2FBC2C1}" type="datetime1">
              <a:rPr lang="en-US" smtClean="0"/>
              <a:t>9/10/2025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4470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hf hdr="0" ftr="0" dt="0"/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viriyincy/7004881064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sa/3.0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eso.ca/power-data/data-directory" TargetMode="Externa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eso.ca/Learn/Ontario-Electricity-Grid/Supply-Mix-and-Generation" TargetMode="External"/><Relationship Id="rId3" Type="http://schemas.openxmlformats.org/officeDocument/2006/relationships/image" Target="../media/image17.png"/><Relationship Id="rId7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7.png"/><Relationship Id="rId7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group of power lines&#10;&#10;AI-generated content may be incorrect.">
            <a:extLst>
              <a:ext uri="{FF2B5EF4-FFF2-40B4-BE49-F238E27FC236}">
                <a16:creationId xmlns:a16="http://schemas.microsoft.com/office/drawing/2014/main" id="{4AFF1A0E-F98D-77E8-410E-596CB5B2A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8100" r="1312" b="-1"/>
          <a:stretch>
            <a:fillRect/>
          </a:stretch>
        </p:blipFill>
        <p:spPr>
          <a:xfrm>
            <a:off x="1889481" y="10"/>
            <a:ext cx="725223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170" y="743447"/>
            <a:ext cx="4750459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500" dirty="0"/>
              <a:t>Electricity Demand and Supply Analysis in Ontario</a:t>
            </a:r>
            <a:br>
              <a:rPr lang="en-US" sz="4500" dirty="0"/>
            </a:br>
            <a:br>
              <a:rPr lang="en-US" sz="4500" dirty="0"/>
            </a:br>
            <a:endParaRPr lang="en-US" sz="4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1316" y="4030519"/>
            <a:ext cx="3420643" cy="1485319"/>
          </a:xfrm>
          <a:noFill/>
        </p:spPr>
        <p:txBody>
          <a:bodyPr>
            <a:normAutofit fontScale="85000" lnSpcReduction="10000"/>
          </a:bodyPr>
          <a:lstStyle/>
          <a:p>
            <a:pPr algn="l"/>
            <a:r>
              <a:rPr lang="en-CA" sz="3000" dirty="0">
                <a:solidFill>
                  <a:schemeClr val="tx1"/>
                </a:solidFill>
              </a:rPr>
              <a:t>Tania Tasmin</a:t>
            </a:r>
          </a:p>
          <a:p>
            <a:pPr algn="l"/>
            <a:r>
              <a:rPr lang="en-CA" sz="3000" dirty="0" err="1">
                <a:solidFill>
                  <a:schemeClr val="tx1"/>
                </a:solidFill>
              </a:rPr>
              <a:t>DataTalent</a:t>
            </a:r>
            <a:r>
              <a:rPr lang="en-CA" sz="3000" dirty="0">
                <a:solidFill>
                  <a:schemeClr val="tx1"/>
                </a:solidFill>
              </a:rPr>
              <a:t> - Cohort 18</a:t>
            </a:r>
          </a:p>
          <a:p>
            <a:pPr algn="l"/>
            <a:r>
              <a:rPr lang="en-CA" sz="3000">
                <a:solidFill>
                  <a:schemeClr val="tx1"/>
                </a:solidFill>
              </a:rPr>
              <a:t>Sept </a:t>
            </a:r>
            <a:r>
              <a:rPr lang="en-CA" sz="3000" dirty="0">
                <a:solidFill>
                  <a:schemeClr val="tx1"/>
                </a:solidFill>
              </a:rPr>
              <a:t>10, 2025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B68BBF-660D-5F7A-8D65-9AAC8BF59CCB}"/>
              </a:ext>
            </a:extLst>
          </p:cNvPr>
          <p:cNvSpPr txBox="1"/>
          <p:nvPr/>
        </p:nvSpPr>
        <p:spPr>
          <a:xfrm>
            <a:off x="6836958" y="6657945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CA" sz="700" dirty="0">
                <a:solidFill>
                  <a:srgbClr val="FFFFFF"/>
                </a:solidFill>
                <a:hlinkClick r:id="rId3" tooltip="https://www.flickr.com/photos/viriyincy/7004881064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CA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CA" sz="700" dirty="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CA" sz="700" dirty="0">
              <a:solidFill>
                <a:srgbClr val="FFFFFF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F169E86-64BA-EB9D-B7EC-26A21A44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400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692182"/>
            <a:ext cx="8240486" cy="4016829"/>
          </a:xfrm>
          <a:solidFill>
            <a:schemeClr val="tx2"/>
          </a:solidFill>
        </p:spPr>
        <p:txBody>
          <a:bodyPr>
            <a:normAutofit lnSpcReduction="10000"/>
          </a:bodyPr>
          <a:lstStyle/>
          <a:p>
            <a:endParaRPr dirty="0"/>
          </a:p>
          <a:p>
            <a:pPr algn="just">
              <a:defRPr sz="1800"/>
            </a:pPr>
            <a:r>
              <a:rPr lang="en-US" sz="2800" dirty="0">
                <a:solidFill>
                  <a:schemeClr val="bg1"/>
                </a:solidFill>
              </a:rPr>
              <a:t>The goal of this analysis is to understand Ontario’s electricity demand and supply patterns.</a:t>
            </a:r>
          </a:p>
          <a:p>
            <a:pPr algn="just">
              <a:defRPr sz="1800"/>
            </a:pPr>
            <a:endParaRPr lang="en-US" sz="2800" dirty="0">
              <a:solidFill>
                <a:schemeClr val="bg1"/>
              </a:solidFill>
            </a:endParaRPr>
          </a:p>
          <a:p>
            <a:pPr algn="just">
              <a:defRPr sz="1800"/>
            </a:pPr>
            <a:r>
              <a:rPr lang="en-US" sz="2800" dirty="0">
                <a:solidFill>
                  <a:schemeClr val="bg1"/>
                </a:solidFill>
              </a:rPr>
              <a:t>Why: Demand forecasting, planning  capacity, guiding economic &amp; policy decisions, Managing imports and exports etc.</a:t>
            </a:r>
            <a:endParaRPr lang="en-US" sz="2800" dirty="0"/>
          </a:p>
        </p:txBody>
      </p:sp>
      <p:sp>
        <p:nvSpPr>
          <p:cNvPr id="38" name="Slide Number Placeholder 37">
            <a:extLst>
              <a:ext uri="{FF2B5EF4-FFF2-40B4-BE49-F238E27FC236}">
                <a16:creationId xmlns:a16="http://schemas.microsoft.com/office/drawing/2014/main" id="{DC5F3930-C232-8C1C-8789-7A42CB366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Content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561435"/>
            <a:ext cx="8007690" cy="419548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CA" sz="2800" dirty="0"/>
              <a:t>Energy Demand Analysis in Ontario</a:t>
            </a:r>
            <a:endParaRPr sz="2800" dirty="0"/>
          </a:p>
          <a:p>
            <a:pPr>
              <a:defRPr sz="1800"/>
            </a:pPr>
            <a:r>
              <a:rPr lang="en-US" sz="2800" dirty="0"/>
              <a:t>Annual Average Electricity Demand trends from 2002 to 2025</a:t>
            </a:r>
          </a:p>
          <a:p>
            <a:pPr>
              <a:defRPr sz="1800"/>
            </a:pPr>
            <a:r>
              <a:rPr lang="en-CA" sz="2800" dirty="0"/>
              <a:t>Energy Supply Analysis by Fuel Type</a:t>
            </a:r>
          </a:p>
          <a:p>
            <a:pPr>
              <a:defRPr sz="1800"/>
            </a:pPr>
            <a:r>
              <a:rPr lang="en-US" sz="2800" dirty="0">
                <a:solidFill>
                  <a:srgbClr val="EBEBEB"/>
                </a:solidFill>
              </a:rPr>
              <a:t>Total Energy Supply by each Fuel </a:t>
            </a:r>
            <a:br>
              <a:rPr lang="en-US" sz="2800" dirty="0">
                <a:solidFill>
                  <a:srgbClr val="EBEBEB"/>
                </a:solidFill>
              </a:rPr>
            </a:br>
            <a:r>
              <a:rPr lang="en-US" sz="2800" dirty="0">
                <a:solidFill>
                  <a:srgbClr val="EBEBEB"/>
                </a:solidFill>
              </a:rPr>
              <a:t>for years 2021 - 2025</a:t>
            </a:r>
            <a:endParaRPr lang="en-CA" sz="2800" dirty="0"/>
          </a:p>
          <a:p>
            <a:pPr>
              <a:defRPr sz="1800"/>
            </a:pPr>
            <a:r>
              <a:rPr lang="en-US" sz="2800" dirty="0"/>
              <a:t>Key Findings and AI-based future steps.</a:t>
            </a:r>
            <a:endParaRPr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FE679-A920-E485-DF8E-84593146B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8"/>
            <a:ext cx="6798734" cy="1022320"/>
          </a:xfrm>
        </p:spPr>
        <p:txBody>
          <a:bodyPr/>
          <a:lstStyle/>
          <a:p>
            <a:r>
              <a:rPr dirty="0"/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5820" y="1706501"/>
            <a:ext cx="8115300" cy="4408549"/>
          </a:xfrm>
        </p:spPr>
        <p:txBody>
          <a:bodyPr>
            <a:normAutofit fontScale="62500" lnSpcReduction="20000"/>
          </a:bodyPr>
          <a:lstStyle/>
          <a:p>
            <a:endParaRPr dirty="0"/>
          </a:p>
          <a:p>
            <a:pPr>
              <a:defRPr sz="1800"/>
            </a:pPr>
            <a:r>
              <a:rPr sz="5100" dirty="0"/>
              <a:t>Source: IESO</a:t>
            </a:r>
            <a:endParaRPr lang="en-CA" sz="5100" dirty="0"/>
          </a:p>
          <a:p>
            <a:pPr>
              <a:defRPr sz="1800"/>
            </a:pPr>
            <a:r>
              <a:rPr sz="5100" dirty="0"/>
              <a:t>Independent Electricity System Operat</a:t>
            </a:r>
            <a:r>
              <a:rPr lang="en-CA" sz="5100" dirty="0"/>
              <a:t>ion Ontario, Canada</a:t>
            </a:r>
          </a:p>
          <a:p>
            <a:pPr>
              <a:defRPr sz="1800"/>
            </a:pPr>
            <a:r>
              <a:rPr lang="en-US" sz="5400" dirty="0">
                <a:hlinkClick r:id="rId2"/>
              </a:rPr>
              <a:t>https://www.ieso.ca/power-data/data-directory</a:t>
            </a:r>
            <a:endParaRPr lang="en-CA" sz="5100" dirty="0"/>
          </a:p>
          <a:p>
            <a:pPr>
              <a:defRPr sz="1800"/>
            </a:pPr>
            <a:r>
              <a:rPr sz="5100" dirty="0"/>
              <a:t>Datasets: </a:t>
            </a:r>
            <a:endParaRPr lang="en-CA" sz="5100" dirty="0"/>
          </a:p>
          <a:p>
            <a:pPr marL="0" indent="0">
              <a:buNone/>
              <a:defRPr sz="1800"/>
            </a:pPr>
            <a:r>
              <a:rPr lang="en-CA" sz="4600" dirty="0"/>
              <a:t>   </a:t>
            </a:r>
            <a:r>
              <a:rPr sz="4600" dirty="0">
                <a:hlinkClick r:id="rId2"/>
              </a:rPr>
              <a:t>Ontario &amp; </a:t>
            </a:r>
            <a:r>
              <a:rPr lang="en-CA" sz="4600" dirty="0">
                <a:hlinkClick r:id="rId2"/>
              </a:rPr>
              <a:t>M</a:t>
            </a:r>
            <a:r>
              <a:rPr sz="4600" dirty="0" err="1">
                <a:hlinkClick r:id="rId2"/>
              </a:rPr>
              <a:t>arket</a:t>
            </a:r>
            <a:r>
              <a:rPr sz="4600" dirty="0">
                <a:hlinkClick r:id="rId2"/>
              </a:rPr>
              <a:t> demand</a:t>
            </a:r>
            <a:r>
              <a:rPr lang="en-CA" sz="4600" dirty="0">
                <a:hlinkClick r:id="rId2"/>
              </a:rPr>
              <a:t>  (</a:t>
            </a:r>
            <a:r>
              <a:rPr sz="4600" dirty="0">
                <a:hlinkClick r:id="rId2"/>
              </a:rPr>
              <a:t>hourly)</a:t>
            </a:r>
            <a:endParaRPr lang="en-CA" sz="4600" dirty="0"/>
          </a:p>
          <a:p>
            <a:pPr marL="0" indent="0">
              <a:buNone/>
              <a:defRPr sz="1800"/>
            </a:pPr>
            <a:r>
              <a:rPr lang="en-US" sz="4600" dirty="0"/>
              <a:t>   </a:t>
            </a:r>
            <a:r>
              <a:rPr lang="en-US" sz="4600" dirty="0">
                <a:hlinkClick r:id="rId2"/>
              </a:rPr>
              <a:t>Generator output by fuel type (hourly)</a:t>
            </a:r>
            <a:endParaRPr lang="en-US" sz="4600" dirty="0"/>
          </a:p>
          <a:p>
            <a:pPr marL="0" indent="0">
              <a:buNone/>
              <a:defRPr sz="1800"/>
            </a:pPr>
            <a:endParaRPr sz="4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61545-F8B1-FE6B-18BD-9009DEC1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BD428-83D1-84B5-BCA5-765D68EEA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EBB58-A9EF-3E4D-6311-8EF2393C9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6" y="915338"/>
            <a:ext cx="6798734" cy="1022320"/>
          </a:xfrm>
        </p:spPr>
        <p:txBody>
          <a:bodyPr/>
          <a:lstStyle/>
          <a:p>
            <a:r>
              <a:rPr lang="en-CA" dirty="0"/>
              <a:t>Tools Used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30808-97F8-B951-1552-BBC940202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820" y="1706501"/>
            <a:ext cx="7947419" cy="4408549"/>
          </a:xfrm>
        </p:spPr>
        <p:txBody>
          <a:bodyPr>
            <a:normAutofit fontScale="62500" lnSpcReduction="20000"/>
          </a:bodyPr>
          <a:lstStyle/>
          <a:p>
            <a:endParaRPr dirty="0"/>
          </a:p>
          <a:p>
            <a:pPr>
              <a:defRPr sz="1800"/>
            </a:pPr>
            <a:r>
              <a:rPr lang="en-CA" sz="5100" dirty="0"/>
              <a:t>IDE: VS Code with </a:t>
            </a:r>
            <a:r>
              <a:rPr lang="en-CA" sz="5100" dirty="0" err="1"/>
              <a:t>Jupyter</a:t>
            </a:r>
            <a:r>
              <a:rPr lang="en-CA" sz="5100" dirty="0"/>
              <a:t> Notebook</a:t>
            </a:r>
          </a:p>
          <a:p>
            <a:pPr>
              <a:defRPr sz="1800"/>
            </a:pPr>
            <a:r>
              <a:rPr lang="en-CA" sz="5100" dirty="0"/>
              <a:t>Data Cleaning: </a:t>
            </a:r>
          </a:p>
          <a:p>
            <a:pPr marL="0" indent="0">
              <a:buNone/>
              <a:defRPr sz="1800"/>
            </a:pPr>
            <a:r>
              <a:rPr lang="en-US" sz="5100" dirty="0"/>
              <a:t>     </a:t>
            </a:r>
            <a:r>
              <a:rPr lang="en-US" sz="5100" dirty="0" err="1"/>
              <a:t>Numpy</a:t>
            </a:r>
            <a:r>
              <a:rPr lang="en-US" sz="5100" dirty="0"/>
              <a:t> and Pandas</a:t>
            </a:r>
          </a:p>
          <a:p>
            <a:pPr>
              <a:defRPr sz="1800"/>
            </a:pPr>
            <a:r>
              <a:rPr lang="en-US" sz="5100" dirty="0"/>
              <a:t>Data Visualization</a:t>
            </a:r>
          </a:p>
          <a:p>
            <a:pPr marL="0" indent="0">
              <a:buNone/>
              <a:defRPr sz="1800"/>
            </a:pPr>
            <a:r>
              <a:rPr lang="en-US" sz="5100" dirty="0"/>
              <a:t>     Bokeh</a:t>
            </a:r>
          </a:p>
          <a:p>
            <a:pPr marL="0" indent="0">
              <a:buNone/>
              <a:defRPr sz="1800"/>
            </a:pPr>
            <a:r>
              <a:rPr lang="en-US" sz="5100" dirty="0"/>
              <a:t>     Matplotlib</a:t>
            </a:r>
          </a:p>
          <a:p>
            <a:pPr marL="0" indent="0">
              <a:buNone/>
              <a:defRPr sz="1800"/>
            </a:pPr>
            <a:r>
              <a:rPr lang="en-US" sz="5100" dirty="0"/>
              <a:t>     Power BI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D7616-2B22-5A98-26C3-013CE2C81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541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5091" y="436690"/>
            <a:ext cx="6589199" cy="1280890"/>
          </a:xfrm>
        </p:spPr>
        <p:txBody>
          <a:bodyPr/>
          <a:lstStyle/>
          <a:p>
            <a:r>
              <a:rPr lang="en-CA" dirty="0"/>
              <a:t>Energy Demand Analysis</a:t>
            </a: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DE1841-365E-30DA-DD15-448DAD433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" y="1335100"/>
            <a:ext cx="8892540" cy="10559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3CF4B0-3EB9-56F2-9098-A2AB38B7D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46" y="2761709"/>
            <a:ext cx="8468907" cy="3410426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BAE2283-66DA-4F3E-0065-BA70683C3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2F06FC-2027-169A-44F9-F972B95B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CE242-E7A1-8B9B-217C-B2974F5CD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091" y="436690"/>
            <a:ext cx="6589199" cy="1280890"/>
          </a:xfrm>
        </p:spPr>
        <p:txBody>
          <a:bodyPr/>
          <a:lstStyle/>
          <a:p>
            <a:r>
              <a:rPr lang="en-CA" dirty="0"/>
              <a:t>Energy Demand Analysis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042C2F-0F7E-9D98-E3A5-56F585DDB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20" y="1476102"/>
            <a:ext cx="8487960" cy="3905795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9AC685-2093-4A21-C1DE-DDEF8DBF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717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2A2BE2-4717-0C26-BA70-E0764FFA5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B158-C5FE-70D6-DFEA-8D01FC708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578448"/>
            <a:ext cx="8174580" cy="1400530"/>
          </a:xfrm>
        </p:spPr>
        <p:txBody>
          <a:bodyPr>
            <a:normAutofit/>
          </a:bodyPr>
          <a:lstStyle/>
          <a:p>
            <a:r>
              <a:rPr lang="en-CA" sz="3200" b="1" dirty="0"/>
              <a:t>Ontario Demand vs. Market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88089-A277-81F7-7D25-3CBBC7EB0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330" y="1325880"/>
            <a:ext cx="8515350" cy="4383131"/>
          </a:xfrm>
          <a:solidFill>
            <a:schemeClr val="tx2"/>
          </a:solidFill>
        </p:spPr>
        <p:txBody>
          <a:bodyPr>
            <a:normAutofit/>
          </a:bodyPr>
          <a:lstStyle/>
          <a:p>
            <a:endParaRPr dirty="0"/>
          </a:p>
          <a:p>
            <a:r>
              <a:rPr lang="en-CA" sz="2400" b="1" dirty="0">
                <a:solidFill>
                  <a:schemeClr val="bg1"/>
                </a:solidFill>
              </a:rPr>
              <a:t>Market Demand−Ontario Demand=</a:t>
            </a:r>
          </a:p>
          <a:p>
            <a:pPr marL="0" indent="0">
              <a:buNone/>
              <a:defRPr sz="1800"/>
            </a:pPr>
            <a:r>
              <a:rPr lang="en-CA" sz="2400" b="1" dirty="0">
                <a:solidFill>
                  <a:schemeClr val="bg1"/>
                </a:solidFill>
              </a:rPr>
              <a:t>                                    Transmission Losses+Net Exports</a:t>
            </a:r>
          </a:p>
          <a:p>
            <a:pPr>
              <a:defRPr sz="1800"/>
            </a:pPr>
            <a:r>
              <a:rPr lang="en-US" sz="2400" b="1" dirty="0">
                <a:solidFill>
                  <a:schemeClr val="bg1"/>
                </a:solidFill>
              </a:rPr>
              <a:t>Understanding this difference helps in grid planning, efficiency analysis, and forecasting.</a:t>
            </a:r>
          </a:p>
          <a:p>
            <a:pPr>
              <a:defRPr sz="1800"/>
            </a:pPr>
            <a:endParaRPr lang="en-US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922C3-331B-E94E-633D-95A69C74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12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90" y="452718"/>
            <a:ext cx="7984920" cy="1400530"/>
          </a:xfrm>
        </p:spPr>
        <p:txBody>
          <a:bodyPr/>
          <a:lstStyle/>
          <a:p>
            <a:r>
              <a:rPr lang="en-CA" sz="4000" dirty="0"/>
              <a:t>Demands on January 1</a:t>
            </a:r>
            <a:r>
              <a:rPr lang="en-CA" sz="4000" baseline="30000" dirty="0"/>
              <a:t>st</a:t>
            </a:r>
            <a:r>
              <a:rPr lang="en-CA" sz="4000" dirty="0"/>
              <a:t>, </a:t>
            </a:r>
            <a:r>
              <a:rPr lang="en-CA" sz="3600" dirty="0"/>
              <a:t>2025</a:t>
            </a:r>
            <a:endParaRPr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6EAC48-006B-F048-C8E8-6491FCF7C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2464"/>
            <a:ext cx="9144000" cy="3398196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F77C1A-E279-F967-D978-A0FCDA5E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943ED7-B823-DACF-883B-EF5F387B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57024-FE0A-3C83-9826-1EB5FD5D1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984920" cy="1400530"/>
          </a:xfrm>
        </p:spPr>
        <p:txBody>
          <a:bodyPr/>
          <a:lstStyle/>
          <a:p>
            <a:r>
              <a:rPr lang="en-CA" sz="3600" dirty="0"/>
              <a:t>Demands on January 1</a:t>
            </a:r>
            <a:r>
              <a:rPr lang="en-CA" sz="3600" baseline="30000" dirty="0"/>
              <a:t>st</a:t>
            </a:r>
            <a:r>
              <a:rPr lang="en-CA" sz="3600" dirty="0"/>
              <a:t>, 2025</a:t>
            </a:r>
            <a:endParaRPr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DC8B0-AECE-2A07-2D48-CA7720AC3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1353701"/>
            <a:ext cx="8972550" cy="478279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20FA9-540C-C3C8-74AE-37771F156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E6B2C3C-1B38-C3C8-801C-D16D8709D9E6}"/>
              </a:ext>
            </a:extLst>
          </p:cNvPr>
          <p:cNvSpPr/>
          <p:nvPr/>
        </p:nvSpPr>
        <p:spPr>
          <a:xfrm>
            <a:off x="1760220" y="3348990"/>
            <a:ext cx="1499655" cy="23565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F5CB78C-A115-D4FF-6A43-56133792D829}"/>
              </a:ext>
            </a:extLst>
          </p:cNvPr>
          <p:cNvSpPr/>
          <p:nvPr/>
        </p:nvSpPr>
        <p:spPr>
          <a:xfrm>
            <a:off x="6035039" y="1684054"/>
            <a:ext cx="1499655" cy="23565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410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54D00-92CC-EADC-AA61-D67160C48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C0679-DFD8-2604-E280-8E1A0F41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1" y="436690"/>
            <a:ext cx="8721090" cy="866330"/>
          </a:xfrm>
        </p:spPr>
        <p:txBody>
          <a:bodyPr/>
          <a:lstStyle/>
          <a:p>
            <a:r>
              <a:rPr lang="en-US" sz="3600" dirty="0"/>
              <a:t>Daily Energy Consumption – 2025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1D7A340-A374-0542-0D3A-9F2F34828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076" y="4324365"/>
            <a:ext cx="5875019" cy="2291256"/>
          </a:xfrm>
          <a:prstGeom prst="rect">
            <a:avLst/>
          </a:prstGeom>
          <a:effectLst/>
        </p:spPr>
      </p:pic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78C8A49-0C49-2799-83AC-6BA6773DB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7" y="1303020"/>
            <a:ext cx="8975485" cy="2961908"/>
          </a:xfrm>
          <a:prstGeom prst="rect">
            <a:avLst/>
          </a:prstGeom>
          <a:effectLst/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2E5D2-AF89-27F4-FC94-69845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13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2CC86E-204D-8A47-F3D1-28856F89F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E9EAC-8943-7C13-EB65-17610A065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1" y="436690"/>
            <a:ext cx="8721090" cy="866330"/>
          </a:xfrm>
        </p:spPr>
        <p:txBody>
          <a:bodyPr/>
          <a:lstStyle/>
          <a:p>
            <a:r>
              <a:rPr lang="en-US" sz="3600" dirty="0"/>
              <a:t>Daily Energy Consumption –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0F8E70-733E-3205-9EEE-F0791E0A5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5764"/>
            <a:ext cx="9144000" cy="462647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5A4AD00-A336-3F8B-9164-F281BD0AC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4539F76-2F99-6BE5-2415-B8F113AB5CC0}"/>
              </a:ext>
            </a:extLst>
          </p:cNvPr>
          <p:cNvSpPr/>
          <p:nvPr/>
        </p:nvSpPr>
        <p:spPr>
          <a:xfrm>
            <a:off x="5795011" y="1443974"/>
            <a:ext cx="2697480" cy="28079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44840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35DC5F-2E11-8D6F-C062-DD7353B1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F617-AA64-14D1-FA56-CA78ABDB1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1" y="436690"/>
            <a:ext cx="8721090" cy="1403540"/>
          </a:xfrm>
        </p:spPr>
        <p:txBody>
          <a:bodyPr/>
          <a:lstStyle/>
          <a:p>
            <a:r>
              <a:rPr lang="en-US" sz="3200" dirty="0"/>
              <a:t>Annual Average Electricity Demand,</a:t>
            </a:r>
            <a:br>
              <a:rPr lang="en-US" sz="3200" dirty="0"/>
            </a:br>
            <a:r>
              <a:rPr lang="en-US" sz="3200" dirty="0"/>
              <a:t>2002 to 2025</a:t>
            </a:r>
            <a:endParaRPr lang="en-US" sz="6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0BD18FA-9872-73F4-9D73-21C58C1C8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9" y="1840230"/>
            <a:ext cx="9144000" cy="3564901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481A079-E6E3-4914-C9B4-EE7E3CB9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634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EF501-4073-62C9-7F2E-64B7E87D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6886F-D7ED-5A73-F7A4-3CABC82C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1" y="436690"/>
            <a:ext cx="8721090" cy="1403540"/>
          </a:xfrm>
        </p:spPr>
        <p:txBody>
          <a:bodyPr/>
          <a:lstStyle/>
          <a:p>
            <a:r>
              <a:rPr lang="en-US" sz="3200" dirty="0"/>
              <a:t>Annual Average Electricity Demand,</a:t>
            </a:r>
            <a:br>
              <a:rPr lang="en-US" sz="3200" dirty="0"/>
            </a:br>
            <a:r>
              <a:rPr lang="en-US" sz="3200" dirty="0"/>
              <a:t>2002 to 2025</a:t>
            </a:r>
            <a:endParaRPr lang="en-US" sz="6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46D05A-A410-CC6D-C06B-7CF7F029A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7077"/>
            <a:ext cx="9144000" cy="418402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ADCF6-D1CB-FEEB-5AA9-D45C9D6C5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745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F37032-415A-57F7-F9BC-5C4E2C6F1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74FC9-D9BC-2AF4-5B07-DE4BB1C4B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091" y="436690"/>
            <a:ext cx="6589199" cy="1280890"/>
          </a:xfrm>
        </p:spPr>
        <p:txBody>
          <a:bodyPr/>
          <a:lstStyle/>
          <a:p>
            <a:r>
              <a:rPr lang="en-CA" dirty="0"/>
              <a:t>Energy Supply Analysis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F29356-C129-9BFC-5F8E-6AB5D96AA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9808"/>
            <a:ext cx="9144000" cy="12980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DF32621-D7AD-A4EC-C912-268177D03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81493"/>
            <a:ext cx="9144000" cy="366305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CBE89D-D460-8A57-D445-790BE65D5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664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74AC0A-174A-D38A-7F2F-BC98FC610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90261-93A7-1C65-C420-34CB0F208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091" y="436690"/>
            <a:ext cx="6589199" cy="1280890"/>
          </a:xfrm>
        </p:spPr>
        <p:txBody>
          <a:bodyPr/>
          <a:lstStyle/>
          <a:p>
            <a:r>
              <a:rPr lang="en-CA" dirty="0"/>
              <a:t>Energy Supply Analysis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5B85E8-1345-A5B3-6111-1CCB3C0CA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" y="1579555"/>
            <a:ext cx="8709660" cy="4590766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E6E832-EC6B-21E8-BECB-77834299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712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FC8CA-F57B-B339-2C2A-5CC60F430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EAE1-B3D0-9B8A-76AB-BD2A0CAC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091" y="436690"/>
            <a:ext cx="6589199" cy="1280890"/>
          </a:xfrm>
        </p:spPr>
        <p:txBody>
          <a:bodyPr/>
          <a:lstStyle/>
          <a:p>
            <a:r>
              <a:rPr lang="en-CA" dirty="0"/>
              <a:t>Energy Supply Analysis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C8E929-00C4-7E34-B394-24ECD3847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45" y="1717580"/>
            <a:ext cx="7642110" cy="399686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353F1-EAE3-F8C2-43CD-FAE3A4D48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64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7A4FC-97D6-9DE9-11F7-11294C2F9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12E3267-7ABE-412B-8580-47EC0D1F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0B62C5A-2250-4380-AB23-DB87446C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42CF425-7213-4F89-B0FF-4C2BDDD9C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5DA97D-88F8-4249-B650-4FC9FD50A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F38673-6E30-4BAE-AC67-0B283EBF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02A25CB-1ED1-4C87-AB49-8D3BC684D1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7E1180-A182-B226-0141-0055B232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967" y="1447800"/>
            <a:ext cx="2500257" cy="30969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4300" dirty="0"/>
              <a:t>Daily Energy Supply for each Fuel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484F10F-334C-431A-8E30-B66B496C5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-500267" y="500267"/>
            <a:ext cx="6858000" cy="5857465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DB9FFF-74F1-9FFF-DB6C-53B2B6E3FB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081" y="1227746"/>
            <a:ext cx="3830943" cy="5357965"/>
          </a:xfrm>
          <a:prstGeom prst="rect">
            <a:avLst/>
          </a:prstGeom>
          <a:effectLst/>
        </p:spPr>
      </p:pic>
      <p:sp>
        <p:nvSpPr>
          <p:cNvPr id="26" name="Freeform 31">
            <a:extLst>
              <a:ext uri="{FF2B5EF4-FFF2-40B4-BE49-F238E27FC236}">
                <a16:creationId xmlns:a16="http://schemas.microsoft.com/office/drawing/2014/main" id="{AEA0BB24-2B23-4B19-996F-58DA607EE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9776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FEC36-8CE3-FD90-D52E-0AFE606985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082" y="304800"/>
            <a:ext cx="7795125" cy="799000"/>
          </a:xfrm>
          <a:prstGeom prst="rect">
            <a:avLst/>
          </a:prstGeom>
          <a:effectLst/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31F44E-F914-6646-1E41-E2EA6692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81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2D9A3-381E-C58E-C179-9A00E2F0C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BDE45-DFE4-A1DF-E929-EE802D30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" y="1077135"/>
            <a:ext cx="8355329" cy="1280890"/>
          </a:xfrm>
        </p:spPr>
        <p:txBody>
          <a:bodyPr/>
          <a:lstStyle/>
          <a:p>
            <a:r>
              <a:rPr lang="en-US" sz="4000" dirty="0"/>
              <a:t>Daily Energy Supply for each Fuel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C767E-6556-1D23-97C7-C9EBDAFE6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57" y="2643410"/>
            <a:ext cx="8497486" cy="256258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76470-33F7-B87D-E154-2056DA9B3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8276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0999C-7C4B-636D-117D-6D6D4735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C479E-707C-5C21-6011-98A0A7743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" y="208090"/>
            <a:ext cx="8355329" cy="763460"/>
          </a:xfrm>
        </p:spPr>
        <p:txBody>
          <a:bodyPr/>
          <a:lstStyle/>
          <a:p>
            <a:r>
              <a:rPr lang="en-US" sz="3600" dirty="0"/>
              <a:t>Daily Energy Supply for each Fuel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D31669-B57C-307F-3EA0-A4801DD0B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95" y="1098071"/>
            <a:ext cx="6556576" cy="5369827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BC68D-BD26-1A34-6132-2288F2FE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0865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2A6C0-99F7-EDBB-D4E2-B18319F4D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BE89D-8577-AFAF-864C-284C0ED8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" y="208090"/>
            <a:ext cx="8355329" cy="763460"/>
          </a:xfrm>
        </p:spPr>
        <p:txBody>
          <a:bodyPr/>
          <a:lstStyle/>
          <a:p>
            <a:r>
              <a:rPr lang="en-US" sz="3600" dirty="0"/>
              <a:t>Daily Energy Supply for Each Fuel</a:t>
            </a:r>
            <a:endParaRPr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910D8-6FD5-CE4C-7698-82580A47C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70" y="971550"/>
            <a:ext cx="8487960" cy="54871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DE00B-6225-0720-A3B5-DDD41721F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249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5B01D-E939-9824-10C6-AB85DC21B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9A30ED65-2D9F-E4A1-D421-A9BC1C4BC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3A0DCA2-2E16-7EA0-3CC9-1E8C47BC1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BA82DBF2-254D-4F56-4197-0C6B65168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53510F3-6840-1B62-9546-46A003E54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9AB98AC-18B4-4ED8-7E44-9FB959EF7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6C08107E-4A32-A7B3-C4F5-85ED8A333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B7AC1-6532-FC19-0E56-2E13E22A1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7967" y="1447800"/>
            <a:ext cx="2703730" cy="30969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lang="en-US" sz="2900" dirty="0"/>
              <a:t>Total Energy Supply for each Fuel over the month of August, 2025</a:t>
            </a: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4628A69-B639-B03F-2934-CFEDA25EDF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5400000" flipH="1">
            <a:off x="-500267" y="500267"/>
            <a:ext cx="6858000" cy="5857465"/>
          </a:xfrm>
          <a:custGeom>
            <a:avLst/>
            <a:gdLst>
              <a:gd name="connsiteX0" fmla="*/ 6858000 w 6858000"/>
              <a:gd name="connsiteY0" fmla="*/ 1344715 h 7809953"/>
              <a:gd name="connsiteX1" fmla="*/ 6858000 w 6858000"/>
              <a:gd name="connsiteY1" fmla="*/ 1177 h 7809953"/>
              <a:gd name="connsiteX2" fmla="*/ 6702323 w 6858000"/>
              <a:gd name="connsiteY2" fmla="*/ 26222 h 7809953"/>
              <a:gd name="connsiteX3" fmla="*/ 6547332 w 6858000"/>
              <a:gd name="connsiteY3" fmla="*/ 50091 h 7809953"/>
              <a:gd name="connsiteX4" fmla="*/ 6391656 w 6858000"/>
              <a:gd name="connsiteY4" fmla="*/ 73455 h 7809953"/>
              <a:gd name="connsiteX5" fmla="*/ 6235293 w 6858000"/>
              <a:gd name="connsiteY5" fmla="*/ 93458 h 7809953"/>
              <a:gd name="connsiteX6" fmla="*/ 6079617 w 6858000"/>
              <a:gd name="connsiteY6" fmla="*/ 113629 h 7809953"/>
              <a:gd name="connsiteX7" fmla="*/ 5923254 w 6858000"/>
              <a:gd name="connsiteY7" fmla="*/ 132455 h 7809953"/>
              <a:gd name="connsiteX8" fmla="*/ 5768949 w 6858000"/>
              <a:gd name="connsiteY8" fmla="*/ 148591 h 7809953"/>
              <a:gd name="connsiteX9" fmla="*/ 5612587 w 6858000"/>
              <a:gd name="connsiteY9" fmla="*/ 163887 h 7809953"/>
              <a:gd name="connsiteX10" fmla="*/ 5456910 w 6858000"/>
              <a:gd name="connsiteY10" fmla="*/ 177839 h 7809953"/>
              <a:gd name="connsiteX11" fmla="*/ 5303977 w 6858000"/>
              <a:gd name="connsiteY11" fmla="*/ 189941 h 7809953"/>
              <a:gd name="connsiteX12" fmla="*/ 5148986 w 6858000"/>
              <a:gd name="connsiteY12" fmla="*/ 202044 h 7809953"/>
              <a:gd name="connsiteX13" fmla="*/ 4996053 w 6858000"/>
              <a:gd name="connsiteY13" fmla="*/ 212129 h 7809953"/>
              <a:gd name="connsiteX14" fmla="*/ 4843119 w 6858000"/>
              <a:gd name="connsiteY14" fmla="*/ 220029 h 7809953"/>
              <a:gd name="connsiteX15" fmla="*/ 4690872 w 6858000"/>
              <a:gd name="connsiteY15" fmla="*/ 228266 h 7809953"/>
              <a:gd name="connsiteX16" fmla="*/ 4539996 w 6858000"/>
              <a:gd name="connsiteY16" fmla="*/ 235157 h 7809953"/>
              <a:gd name="connsiteX17" fmla="*/ 4390491 w 6858000"/>
              <a:gd name="connsiteY17" fmla="*/ 240032 h 7809953"/>
              <a:gd name="connsiteX18" fmla="*/ 4240987 w 6858000"/>
              <a:gd name="connsiteY18" fmla="*/ 244234 h 7809953"/>
              <a:gd name="connsiteX19" fmla="*/ 4092855 w 6858000"/>
              <a:gd name="connsiteY19" fmla="*/ 248268 h 7809953"/>
              <a:gd name="connsiteX20" fmla="*/ 3946779 w 6858000"/>
              <a:gd name="connsiteY20" fmla="*/ 250117 h 7809953"/>
              <a:gd name="connsiteX21" fmla="*/ 3800704 w 6858000"/>
              <a:gd name="connsiteY21" fmla="*/ 252134 h 7809953"/>
              <a:gd name="connsiteX22" fmla="*/ 3656685 w 6858000"/>
              <a:gd name="connsiteY22" fmla="*/ 253143 h 7809953"/>
              <a:gd name="connsiteX23" fmla="*/ 3514039 w 6858000"/>
              <a:gd name="connsiteY23" fmla="*/ 252134 h 7809953"/>
              <a:gd name="connsiteX24" fmla="*/ 3372765 w 6858000"/>
              <a:gd name="connsiteY24" fmla="*/ 252134 h 7809953"/>
              <a:gd name="connsiteX25" fmla="*/ 3232861 w 6858000"/>
              <a:gd name="connsiteY25" fmla="*/ 250117 h 7809953"/>
              <a:gd name="connsiteX26" fmla="*/ 3095701 w 6858000"/>
              <a:gd name="connsiteY26" fmla="*/ 247092 h 7809953"/>
              <a:gd name="connsiteX27" fmla="*/ 2959913 w 6858000"/>
              <a:gd name="connsiteY27" fmla="*/ 244234 h 7809953"/>
              <a:gd name="connsiteX28" fmla="*/ 2826868 w 6858000"/>
              <a:gd name="connsiteY28" fmla="*/ 241040 h 7809953"/>
              <a:gd name="connsiteX29" fmla="*/ 2694508 w 6858000"/>
              <a:gd name="connsiteY29" fmla="*/ 236166 h 7809953"/>
              <a:gd name="connsiteX30" fmla="*/ 2564207 w 6858000"/>
              <a:gd name="connsiteY30" fmla="*/ 230955 h 7809953"/>
              <a:gd name="connsiteX31" fmla="*/ 2436648 w 6858000"/>
              <a:gd name="connsiteY31" fmla="*/ 226249 h 7809953"/>
              <a:gd name="connsiteX32" fmla="*/ 2187702 w 6858000"/>
              <a:gd name="connsiteY32" fmla="*/ 212969 h 7809953"/>
              <a:gd name="connsiteX33" fmla="*/ 1949044 w 6858000"/>
              <a:gd name="connsiteY33" fmla="*/ 198850 h 7809953"/>
              <a:gd name="connsiteX34" fmla="*/ 1719987 w 6858000"/>
              <a:gd name="connsiteY34" fmla="*/ 184058 h 7809953"/>
              <a:gd name="connsiteX35" fmla="*/ 1503274 w 6858000"/>
              <a:gd name="connsiteY35" fmla="*/ 167753 h 7809953"/>
              <a:gd name="connsiteX36" fmla="*/ 1296162 w 6858000"/>
              <a:gd name="connsiteY36" fmla="*/ 150776 h 7809953"/>
              <a:gd name="connsiteX37" fmla="*/ 1104138 w 6858000"/>
              <a:gd name="connsiteY37" fmla="*/ 132455 h 7809953"/>
              <a:gd name="connsiteX38" fmla="*/ 923773 w 6858000"/>
              <a:gd name="connsiteY38" fmla="*/ 114469 h 7809953"/>
              <a:gd name="connsiteX39" fmla="*/ 757809 w 6858000"/>
              <a:gd name="connsiteY39" fmla="*/ 96484 h 7809953"/>
              <a:gd name="connsiteX40" fmla="*/ 605562 w 6858000"/>
              <a:gd name="connsiteY40" fmla="*/ 79507 h 7809953"/>
              <a:gd name="connsiteX41" fmla="*/ 470459 w 6858000"/>
              <a:gd name="connsiteY41" fmla="*/ 63370 h 7809953"/>
              <a:gd name="connsiteX42" fmla="*/ 348387 w 6858000"/>
              <a:gd name="connsiteY42" fmla="*/ 48074 h 7809953"/>
              <a:gd name="connsiteX43" fmla="*/ 245517 w 6858000"/>
              <a:gd name="connsiteY43" fmla="*/ 35299 h 7809953"/>
              <a:gd name="connsiteX44" fmla="*/ 159106 w 6858000"/>
              <a:gd name="connsiteY44" fmla="*/ 23197 h 7809953"/>
              <a:gd name="connsiteX45" fmla="*/ 40462 w 6858000"/>
              <a:gd name="connsiteY45" fmla="*/ 5883 h 7809953"/>
              <a:gd name="connsiteX46" fmla="*/ 0 w 6858000"/>
              <a:gd name="connsiteY46" fmla="*/ 0 h 7809953"/>
              <a:gd name="connsiteX47" fmla="*/ 0 w 6858000"/>
              <a:gd name="connsiteY47" fmla="*/ 652830 h 7809953"/>
              <a:gd name="connsiteX48" fmla="*/ 0 w 6858000"/>
              <a:gd name="connsiteY48" fmla="*/ 652830 h 7809953"/>
              <a:gd name="connsiteX49" fmla="*/ 0 w 6858000"/>
              <a:gd name="connsiteY49" fmla="*/ 7809953 h 7809953"/>
              <a:gd name="connsiteX50" fmla="*/ 6857999 w 6858000"/>
              <a:gd name="connsiteY50" fmla="*/ 7809953 h 7809953"/>
              <a:gd name="connsiteX51" fmla="*/ 6857999 w 6858000"/>
              <a:gd name="connsiteY51" fmla="*/ 1344715 h 7809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0" h="7809953">
                <a:moveTo>
                  <a:pt x="6858000" y="1344715"/>
                </a:moveTo>
                <a:lnTo>
                  <a:pt x="6858000" y="1177"/>
                </a:lnTo>
                <a:lnTo>
                  <a:pt x="6702323" y="26222"/>
                </a:lnTo>
                <a:lnTo>
                  <a:pt x="6547332" y="50091"/>
                </a:lnTo>
                <a:lnTo>
                  <a:pt x="6391656" y="73455"/>
                </a:lnTo>
                <a:lnTo>
                  <a:pt x="6235293" y="93458"/>
                </a:lnTo>
                <a:lnTo>
                  <a:pt x="6079617" y="113629"/>
                </a:lnTo>
                <a:lnTo>
                  <a:pt x="5923254" y="132455"/>
                </a:lnTo>
                <a:lnTo>
                  <a:pt x="5768949" y="148591"/>
                </a:lnTo>
                <a:lnTo>
                  <a:pt x="5612587" y="163887"/>
                </a:lnTo>
                <a:lnTo>
                  <a:pt x="5456910" y="177839"/>
                </a:lnTo>
                <a:lnTo>
                  <a:pt x="5303977" y="189941"/>
                </a:lnTo>
                <a:lnTo>
                  <a:pt x="5148986" y="202044"/>
                </a:lnTo>
                <a:lnTo>
                  <a:pt x="4996053" y="212129"/>
                </a:lnTo>
                <a:lnTo>
                  <a:pt x="4843119" y="220029"/>
                </a:lnTo>
                <a:lnTo>
                  <a:pt x="4690872" y="228266"/>
                </a:lnTo>
                <a:lnTo>
                  <a:pt x="4539996" y="235157"/>
                </a:lnTo>
                <a:lnTo>
                  <a:pt x="4390491" y="240032"/>
                </a:lnTo>
                <a:lnTo>
                  <a:pt x="4240987" y="244234"/>
                </a:lnTo>
                <a:lnTo>
                  <a:pt x="4092855" y="248268"/>
                </a:lnTo>
                <a:lnTo>
                  <a:pt x="3946779" y="250117"/>
                </a:lnTo>
                <a:lnTo>
                  <a:pt x="3800704" y="252134"/>
                </a:lnTo>
                <a:lnTo>
                  <a:pt x="3656685" y="253143"/>
                </a:lnTo>
                <a:lnTo>
                  <a:pt x="3514039" y="252134"/>
                </a:lnTo>
                <a:lnTo>
                  <a:pt x="3372765" y="252134"/>
                </a:lnTo>
                <a:lnTo>
                  <a:pt x="3232861" y="250117"/>
                </a:lnTo>
                <a:lnTo>
                  <a:pt x="3095701" y="247092"/>
                </a:lnTo>
                <a:lnTo>
                  <a:pt x="2959913" y="244234"/>
                </a:lnTo>
                <a:lnTo>
                  <a:pt x="2826868" y="241040"/>
                </a:lnTo>
                <a:lnTo>
                  <a:pt x="2694508" y="236166"/>
                </a:lnTo>
                <a:lnTo>
                  <a:pt x="2564207" y="230955"/>
                </a:lnTo>
                <a:lnTo>
                  <a:pt x="2436648" y="226249"/>
                </a:lnTo>
                <a:lnTo>
                  <a:pt x="2187702" y="212969"/>
                </a:lnTo>
                <a:lnTo>
                  <a:pt x="1949044" y="198850"/>
                </a:lnTo>
                <a:lnTo>
                  <a:pt x="1719987" y="184058"/>
                </a:lnTo>
                <a:lnTo>
                  <a:pt x="1503274" y="167753"/>
                </a:lnTo>
                <a:lnTo>
                  <a:pt x="1296162" y="150776"/>
                </a:lnTo>
                <a:lnTo>
                  <a:pt x="1104138" y="132455"/>
                </a:lnTo>
                <a:lnTo>
                  <a:pt x="923773" y="114469"/>
                </a:lnTo>
                <a:lnTo>
                  <a:pt x="757809" y="96484"/>
                </a:lnTo>
                <a:lnTo>
                  <a:pt x="605562" y="79507"/>
                </a:lnTo>
                <a:lnTo>
                  <a:pt x="470459" y="63370"/>
                </a:lnTo>
                <a:lnTo>
                  <a:pt x="348387" y="48074"/>
                </a:lnTo>
                <a:lnTo>
                  <a:pt x="245517" y="35299"/>
                </a:lnTo>
                <a:lnTo>
                  <a:pt x="159106" y="23197"/>
                </a:lnTo>
                <a:lnTo>
                  <a:pt x="40462" y="5883"/>
                </a:lnTo>
                <a:lnTo>
                  <a:pt x="0" y="0"/>
                </a:lnTo>
                <a:lnTo>
                  <a:pt x="0" y="652830"/>
                </a:lnTo>
                <a:lnTo>
                  <a:pt x="0" y="652830"/>
                </a:lnTo>
                <a:lnTo>
                  <a:pt x="0" y="7809953"/>
                </a:lnTo>
                <a:lnTo>
                  <a:pt x="6857999" y="7809953"/>
                </a:lnTo>
                <a:lnTo>
                  <a:pt x="6857999" y="13447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CA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394146-FA1D-66C9-39EF-4237F34DEF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038" y="1823865"/>
            <a:ext cx="4318692" cy="4401216"/>
          </a:xfrm>
          <a:prstGeom prst="rect">
            <a:avLst/>
          </a:prstGeom>
          <a:effectLst/>
        </p:spPr>
      </p:pic>
      <p:sp>
        <p:nvSpPr>
          <p:cNvPr id="47" name="Freeform 31">
            <a:extLst>
              <a:ext uri="{FF2B5EF4-FFF2-40B4-BE49-F238E27FC236}">
                <a16:creationId xmlns:a16="http://schemas.microsoft.com/office/drawing/2014/main" id="{1AE39539-DA8F-CE60-8155-ACE34528C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59776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903AB-E9A0-40DB-A5B5-5FE5E55412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2303" y="723330"/>
            <a:ext cx="6899729" cy="724470"/>
          </a:xfrm>
          <a:prstGeom prst="rect">
            <a:avLst/>
          </a:prstGeom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269DC-A100-4767-3DBC-0A0A59EB6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37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275FA4-E307-5FB5-81F0-639B9714C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80" name="Oval 79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86" name="Rectangle 85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605CE-6D6B-A3C7-EB16-7FDE7AC77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1379" y="1454964"/>
            <a:ext cx="2506845" cy="33088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kumimoji="0" lang="en-US" sz="290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Total Energy Supply for each Fuel over the month of August</a:t>
            </a:r>
            <a:r>
              <a:rPr lang="en-US" sz="2900" dirty="0"/>
              <a:t>,</a:t>
            </a:r>
            <a:r>
              <a:rPr kumimoji="0" lang="en-US" sz="290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 2025</a:t>
            </a:r>
            <a:endParaRPr lang="en-US" sz="2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490EC0-33F7-6DB5-5124-641E3637980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4391"/>
          <a:stretch>
            <a:fillRect/>
          </a:stretch>
        </p:blipFill>
        <p:spPr>
          <a:xfrm>
            <a:off x="20" y="0"/>
            <a:ext cx="5437233" cy="6581579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2AF5782-EAEF-7892-9752-14A1F132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64405" y="295729"/>
            <a:ext cx="628649" cy="767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spcAft>
                <a:spcPts val="600"/>
              </a:spcAft>
            </a:pPr>
            <a:fld id="{C1FF6DA9-008F-8B48-92A6-B652298478BF}" type="slidenum">
              <a:rPr lang="en-US" sz="2800" smtClean="0"/>
              <a:pPr defTabSz="914400">
                <a:spcAft>
                  <a:spcPts val="600"/>
                </a:spcAft>
              </a:pPr>
              <a:t>23</a:t>
            </a:fld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75722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4B8317-298C-0844-2FD3-E36BB58A1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755EA52B-72E4-1F73-7404-DB25DF6FA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718AF72-BF69-BBD0-1EED-F83693162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F56B16AE-22B6-E20D-10AA-A475071CF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1603E534-B497-189D-A588-37413F4FF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BD4DF6B-AA35-97C6-977E-D586733F6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FE167CF3-6833-BC24-8B98-46397EE5A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E8B3CF69-6339-1B4E-C293-5CACEE59D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9143771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5DA1AC-403F-5BD9-733F-E9450B5CA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sp>
        <p:nvSpPr>
          <p:cNvPr id="69" name="Freeform 16">
            <a:extLst>
              <a:ext uri="{FF2B5EF4-FFF2-40B4-BE49-F238E27FC236}">
                <a16:creationId xmlns:a16="http://schemas.microsoft.com/office/drawing/2014/main" id="{3239EE97-A1AA-A215-06AE-D81530BAB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3753695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A graph with a number of different colored circles with Crust in the background&#10;&#10;AI-generated content may be incorrect.">
            <a:extLst>
              <a:ext uri="{FF2B5EF4-FFF2-40B4-BE49-F238E27FC236}">
                <a16:creationId xmlns:a16="http://schemas.microsoft.com/office/drawing/2014/main" id="{ADFA544D-46B0-35D4-EFA5-3993E16EEA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825" r="-2" b="9300"/>
          <a:stretch>
            <a:fillRect/>
          </a:stretch>
        </p:blipFill>
        <p:spPr>
          <a:xfrm>
            <a:off x="476592" y="640080"/>
            <a:ext cx="6664775" cy="3659200"/>
          </a:xfrm>
          <a:prstGeom prst="rect">
            <a:avLst/>
          </a:prstGeom>
          <a:effectLst/>
        </p:spPr>
      </p:pic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DB87B512-2971-0F7C-3BF6-EF5AFF1FD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9144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D5343-440A-7463-AC0F-BDBE542A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87" y="4854346"/>
            <a:ext cx="6862012" cy="8680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457200">
              <a:lnSpc>
                <a:spcPct val="90000"/>
              </a:lnSpc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Total Energy Supply for each Fuel over the month of August</a:t>
            </a:r>
            <a:r>
              <a:rPr lang="en-US" sz="2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,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EBEBEB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 2025</a:t>
            </a:r>
            <a:endParaRPr lang="en-US" sz="2600" b="0" i="0" kern="1200" dirty="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EF0D1F9-2278-EB27-5B12-F437C2FB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919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B1C744-173E-3EAB-63AB-E611160ED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76F0D-6508-BA7A-222A-46D9126EF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91" y="267810"/>
            <a:ext cx="7856934" cy="8016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457200">
              <a:lnSpc>
                <a:spcPct val="90000"/>
              </a:lnSpc>
            </a:pPr>
            <a:r>
              <a:rPr kumimoji="0" lang="en-US" sz="290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Total Energy Supply for each Fuel </a:t>
            </a:r>
            <a:br>
              <a:rPr kumimoji="0" lang="en-US" sz="290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</a:br>
            <a:r>
              <a:rPr lang="en-US" sz="2900" dirty="0"/>
              <a:t>for years 2021 - 2025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F14140-3D13-539C-777A-366159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202B0A-2A0D-6F64-C472-27998DC4046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" y="1337295"/>
            <a:ext cx="9144000" cy="52780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82F3E96-8683-88C3-B9FF-8787A3142E83}"/>
              </a:ext>
            </a:extLst>
          </p:cNvPr>
          <p:cNvSpPr/>
          <p:nvPr/>
        </p:nvSpPr>
        <p:spPr>
          <a:xfrm>
            <a:off x="11430" y="1874520"/>
            <a:ext cx="9109710" cy="1017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57D672-6BF4-1DDB-C78A-2C21CA28BD24}"/>
              </a:ext>
            </a:extLst>
          </p:cNvPr>
          <p:cNvSpPr/>
          <p:nvPr/>
        </p:nvSpPr>
        <p:spPr>
          <a:xfrm>
            <a:off x="0" y="5611020"/>
            <a:ext cx="9109710" cy="10178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728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D9BA3E-F17C-EDCB-A851-2682C5FA5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0E2E531C-4513-19CF-7EA0-045FCD882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422BF4B4-575B-33AD-5BE0-2BB042E7C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C1381C4F-6915-6698-E1EB-CFF67B805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3849403-ADAC-2635-7157-652DE772F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3409E99-35B1-FE7A-4DF0-A2163A040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ACCB435-2197-FFA8-6E12-88C769D5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C0F26F-65A3-E25E-66AE-2776A17E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AA25FB-2024-9FF3-9B64-4360CCA958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5014" y="1676399"/>
            <a:ext cx="8644675" cy="42433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674D20D-CF92-2427-5207-4DE53F8F2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310" y="427870"/>
            <a:ext cx="7856934" cy="8016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457200">
              <a:lnSpc>
                <a:spcPct val="90000"/>
              </a:lnSpc>
            </a:pPr>
            <a:r>
              <a:rPr kumimoji="0" lang="en-US" sz="290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Total Energy Supply </a:t>
            </a:r>
            <a:r>
              <a:rPr lang="en-US" sz="2900" dirty="0"/>
              <a:t>by</a:t>
            </a:r>
            <a:r>
              <a:rPr kumimoji="0" lang="en-US" sz="290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 each Fuel </a:t>
            </a:r>
            <a:br>
              <a:rPr kumimoji="0" lang="en-US" sz="290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</a:br>
            <a:r>
              <a:rPr lang="en-US" sz="2900" dirty="0"/>
              <a:t>for years 2021 - 2025</a:t>
            </a:r>
          </a:p>
        </p:txBody>
      </p:sp>
    </p:spTree>
    <p:extLst>
      <p:ext uri="{BB962C8B-B14F-4D97-AF65-F5344CB8AC3E}">
        <p14:creationId xmlns:p14="http://schemas.microsoft.com/office/powerpoint/2010/main" val="692187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72943-228C-B393-611C-914981738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pic>
        <p:nvPicPr>
          <p:cNvPr id="4" name="Picture 3" descr="A pie chart with numbers and numbers&#10;&#10;AI-generated content may be incorrect.">
            <a:extLst>
              <a:ext uri="{FF2B5EF4-FFF2-40B4-BE49-F238E27FC236}">
                <a16:creationId xmlns:a16="http://schemas.microsoft.com/office/drawing/2014/main" id="{2A115897-9928-D20A-DE84-082498B4B83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9743" r="-2" b="5463"/>
          <a:stretch>
            <a:fillRect/>
          </a:stretch>
        </p:blipFill>
        <p:spPr>
          <a:xfrm>
            <a:off x="20" y="-5"/>
            <a:ext cx="9143752" cy="5020241"/>
          </a:xfrm>
          <a:custGeom>
            <a:avLst/>
            <a:gdLst/>
            <a:ahLst/>
            <a:cxnLst/>
            <a:rect l="l" t="t" r="r" b="b"/>
            <a:pathLst>
              <a:path w="12191695" h="5020241">
                <a:moveTo>
                  <a:pt x="0" y="0"/>
                </a:moveTo>
                <a:lnTo>
                  <a:pt x="12191695" y="0"/>
                </a:lnTo>
                <a:lnTo>
                  <a:pt x="12191695" y="4057991"/>
                </a:lnTo>
                <a:lnTo>
                  <a:pt x="11914945" y="4110187"/>
                </a:lnTo>
                <a:lnTo>
                  <a:pt x="11639412" y="4159931"/>
                </a:lnTo>
                <a:lnTo>
                  <a:pt x="11362661" y="4208624"/>
                </a:lnTo>
                <a:lnTo>
                  <a:pt x="11084690" y="4250310"/>
                </a:lnTo>
                <a:lnTo>
                  <a:pt x="10807939" y="4292347"/>
                </a:lnTo>
                <a:lnTo>
                  <a:pt x="10529968" y="4331582"/>
                </a:lnTo>
                <a:lnTo>
                  <a:pt x="10255655" y="4365211"/>
                </a:lnTo>
                <a:lnTo>
                  <a:pt x="9977684" y="4397089"/>
                </a:lnTo>
                <a:lnTo>
                  <a:pt x="9700933" y="4426165"/>
                </a:lnTo>
                <a:lnTo>
                  <a:pt x="9429058" y="4451387"/>
                </a:lnTo>
                <a:lnTo>
                  <a:pt x="9153526" y="4476609"/>
                </a:lnTo>
                <a:lnTo>
                  <a:pt x="8881651" y="4497628"/>
                </a:lnTo>
                <a:lnTo>
                  <a:pt x="8609776" y="4514092"/>
                </a:lnTo>
                <a:lnTo>
                  <a:pt x="8339121" y="4531258"/>
                </a:lnTo>
                <a:lnTo>
                  <a:pt x="8070903" y="4545620"/>
                </a:lnTo>
                <a:lnTo>
                  <a:pt x="7805124" y="4555779"/>
                </a:lnTo>
                <a:lnTo>
                  <a:pt x="7539345" y="4564537"/>
                </a:lnTo>
                <a:lnTo>
                  <a:pt x="7276005" y="4572944"/>
                </a:lnTo>
                <a:lnTo>
                  <a:pt x="7016322" y="4576798"/>
                </a:lnTo>
                <a:lnTo>
                  <a:pt x="6756639" y="4581001"/>
                </a:lnTo>
                <a:lnTo>
                  <a:pt x="6500613" y="4583103"/>
                </a:lnTo>
                <a:lnTo>
                  <a:pt x="6247026" y="4581001"/>
                </a:lnTo>
                <a:lnTo>
                  <a:pt x="5995877" y="4581001"/>
                </a:lnTo>
                <a:lnTo>
                  <a:pt x="5747167" y="4576798"/>
                </a:lnTo>
                <a:lnTo>
                  <a:pt x="5503333" y="4570492"/>
                </a:lnTo>
                <a:lnTo>
                  <a:pt x="5261938" y="4564537"/>
                </a:lnTo>
                <a:lnTo>
                  <a:pt x="5025418" y="4557881"/>
                </a:lnTo>
                <a:lnTo>
                  <a:pt x="4790118" y="4547722"/>
                </a:lnTo>
                <a:lnTo>
                  <a:pt x="4558477" y="4536862"/>
                </a:lnTo>
                <a:lnTo>
                  <a:pt x="4331710" y="4527054"/>
                </a:lnTo>
                <a:lnTo>
                  <a:pt x="3889152" y="4499379"/>
                </a:lnTo>
                <a:lnTo>
                  <a:pt x="3464881" y="4469954"/>
                </a:lnTo>
                <a:lnTo>
                  <a:pt x="3057678" y="4439126"/>
                </a:lnTo>
                <a:lnTo>
                  <a:pt x="2672421" y="4405147"/>
                </a:lnTo>
                <a:lnTo>
                  <a:pt x="2304232" y="4369765"/>
                </a:lnTo>
                <a:lnTo>
                  <a:pt x="1962864" y="4331582"/>
                </a:lnTo>
                <a:lnTo>
                  <a:pt x="1642223" y="4294099"/>
                </a:lnTo>
                <a:lnTo>
                  <a:pt x="1347183" y="4256616"/>
                </a:lnTo>
                <a:lnTo>
                  <a:pt x="1076528" y="4221235"/>
                </a:lnTo>
                <a:lnTo>
                  <a:pt x="836351" y="4187605"/>
                </a:lnTo>
                <a:lnTo>
                  <a:pt x="619339" y="4155727"/>
                </a:lnTo>
                <a:lnTo>
                  <a:pt x="436464" y="4129104"/>
                </a:lnTo>
                <a:lnTo>
                  <a:pt x="282848" y="4103881"/>
                </a:lnTo>
                <a:lnTo>
                  <a:pt x="71932" y="4067800"/>
                </a:lnTo>
                <a:lnTo>
                  <a:pt x="1" y="4055539"/>
                </a:lnTo>
                <a:lnTo>
                  <a:pt x="1" y="5020241"/>
                </a:lnTo>
                <a:lnTo>
                  <a:pt x="0" y="5020241"/>
                </a:lnTo>
                <a:close/>
              </a:path>
            </a:pathLst>
          </a:custGeom>
        </p:spPr>
      </p:pic>
      <p:sp>
        <p:nvSpPr>
          <p:cNvPr id="46" name="Freeform 16">
            <a:extLst>
              <a:ext uri="{FF2B5EF4-FFF2-40B4-BE49-F238E27FC236}">
                <a16:creationId xmlns:a16="http://schemas.microsoft.com/office/drawing/2014/main" id="{E4F17063-EDA4-417B-946F-BA357F3B3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3753695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4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36F3EEA-55D4-4677-80E7-92D00B8F3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55533"/>
            <a:ext cx="9144000" cy="2802467"/>
          </a:xfrm>
          <a:custGeom>
            <a:avLst/>
            <a:gdLst>
              <a:gd name="connsiteX0" fmla="*/ 1 w 12192000"/>
              <a:gd name="connsiteY0" fmla="*/ 0 h 2802467"/>
              <a:gd name="connsiteX1" fmla="*/ 71932 w 12192000"/>
              <a:gd name="connsiteY1" fmla="*/ 12261 h 2802467"/>
              <a:gd name="connsiteX2" fmla="*/ 282848 w 12192000"/>
              <a:gd name="connsiteY2" fmla="*/ 48342 h 2802467"/>
              <a:gd name="connsiteX3" fmla="*/ 436464 w 12192000"/>
              <a:gd name="connsiteY3" fmla="*/ 73565 h 2802467"/>
              <a:gd name="connsiteX4" fmla="*/ 619339 w 12192000"/>
              <a:gd name="connsiteY4" fmla="*/ 100188 h 2802467"/>
              <a:gd name="connsiteX5" fmla="*/ 836351 w 12192000"/>
              <a:gd name="connsiteY5" fmla="*/ 132066 h 2802467"/>
              <a:gd name="connsiteX6" fmla="*/ 1076528 w 12192000"/>
              <a:gd name="connsiteY6" fmla="*/ 165696 h 2802467"/>
              <a:gd name="connsiteX7" fmla="*/ 1347183 w 12192000"/>
              <a:gd name="connsiteY7" fmla="*/ 201077 h 2802467"/>
              <a:gd name="connsiteX8" fmla="*/ 1642223 w 12192000"/>
              <a:gd name="connsiteY8" fmla="*/ 238560 h 2802467"/>
              <a:gd name="connsiteX9" fmla="*/ 1962864 w 12192000"/>
              <a:gd name="connsiteY9" fmla="*/ 276043 h 2802467"/>
              <a:gd name="connsiteX10" fmla="*/ 2304232 w 12192000"/>
              <a:gd name="connsiteY10" fmla="*/ 314226 h 2802467"/>
              <a:gd name="connsiteX11" fmla="*/ 2672421 w 12192000"/>
              <a:gd name="connsiteY11" fmla="*/ 349608 h 2802467"/>
              <a:gd name="connsiteX12" fmla="*/ 3057678 w 12192000"/>
              <a:gd name="connsiteY12" fmla="*/ 383587 h 2802467"/>
              <a:gd name="connsiteX13" fmla="*/ 3464881 w 12192000"/>
              <a:gd name="connsiteY13" fmla="*/ 414415 h 2802467"/>
              <a:gd name="connsiteX14" fmla="*/ 3889152 w 12192000"/>
              <a:gd name="connsiteY14" fmla="*/ 443840 h 2802467"/>
              <a:gd name="connsiteX15" fmla="*/ 4331710 w 12192000"/>
              <a:gd name="connsiteY15" fmla="*/ 471515 h 2802467"/>
              <a:gd name="connsiteX16" fmla="*/ 4558476 w 12192000"/>
              <a:gd name="connsiteY16" fmla="*/ 481323 h 2802467"/>
              <a:gd name="connsiteX17" fmla="*/ 4790118 w 12192000"/>
              <a:gd name="connsiteY17" fmla="*/ 492183 h 2802467"/>
              <a:gd name="connsiteX18" fmla="*/ 5025418 w 12192000"/>
              <a:gd name="connsiteY18" fmla="*/ 502342 h 2802467"/>
              <a:gd name="connsiteX19" fmla="*/ 5261937 w 12192000"/>
              <a:gd name="connsiteY19" fmla="*/ 508998 h 2802467"/>
              <a:gd name="connsiteX20" fmla="*/ 5503332 w 12192000"/>
              <a:gd name="connsiteY20" fmla="*/ 514953 h 2802467"/>
              <a:gd name="connsiteX21" fmla="*/ 5747166 w 12192000"/>
              <a:gd name="connsiteY21" fmla="*/ 521259 h 2802467"/>
              <a:gd name="connsiteX22" fmla="*/ 5995877 w 12192000"/>
              <a:gd name="connsiteY22" fmla="*/ 525462 h 2802467"/>
              <a:gd name="connsiteX23" fmla="*/ 6247026 w 12192000"/>
              <a:gd name="connsiteY23" fmla="*/ 525462 h 2802467"/>
              <a:gd name="connsiteX24" fmla="*/ 6500613 w 12192000"/>
              <a:gd name="connsiteY24" fmla="*/ 527564 h 2802467"/>
              <a:gd name="connsiteX25" fmla="*/ 6756639 w 12192000"/>
              <a:gd name="connsiteY25" fmla="*/ 525462 h 2802467"/>
              <a:gd name="connsiteX26" fmla="*/ 7016322 w 12192000"/>
              <a:gd name="connsiteY26" fmla="*/ 521259 h 2802467"/>
              <a:gd name="connsiteX27" fmla="*/ 7276005 w 12192000"/>
              <a:gd name="connsiteY27" fmla="*/ 517405 h 2802467"/>
              <a:gd name="connsiteX28" fmla="*/ 7539345 w 12192000"/>
              <a:gd name="connsiteY28" fmla="*/ 508998 h 2802467"/>
              <a:gd name="connsiteX29" fmla="*/ 7805124 w 12192000"/>
              <a:gd name="connsiteY29" fmla="*/ 500240 h 2802467"/>
              <a:gd name="connsiteX30" fmla="*/ 8070903 w 12192000"/>
              <a:gd name="connsiteY30" fmla="*/ 490081 h 2802467"/>
              <a:gd name="connsiteX31" fmla="*/ 8339121 w 12192000"/>
              <a:gd name="connsiteY31" fmla="*/ 475719 h 2802467"/>
              <a:gd name="connsiteX32" fmla="*/ 8609776 w 12192000"/>
              <a:gd name="connsiteY32" fmla="*/ 458553 h 2802467"/>
              <a:gd name="connsiteX33" fmla="*/ 8881651 w 12192000"/>
              <a:gd name="connsiteY33" fmla="*/ 442089 h 2802467"/>
              <a:gd name="connsiteX34" fmla="*/ 9153526 w 12192000"/>
              <a:gd name="connsiteY34" fmla="*/ 421070 h 2802467"/>
              <a:gd name="connsiteX35" fmla="*/ 9429058 w 12192000"/>
              <a:gd name="connsiteY35" fmla="*/ 395848 h 2802467"/>
              <a:gd name="connsiteX36" fmla="*/ 9700933 w 12192000"/>
              <a:gd name="connsiteY36" fmla="*/ 370626 h 2802467"/>
              <a:gd name="connsiteX37" fmla="*/ 9977684 w 12192000"/>
              <a:gd name="connsiteY37" fmla="*/ 341550 h 2802467"/>
              <a:gd name="connsiteX38" fmla="*/ 10255655 w 12192000"/>
              <a:gd name="connsiteY38" fmla="*/ 309672 h 2802467"/>
              <a:gd name="connsiteX39" fmla="*/ 10529968 w 12192000"/>
              <a:gd name="connsiteY39" fmla="*/ 276043 h 2802467"/>
              <a:gd name="connsiteX40" fmla="*/ 10807939 w 12192000"/>
              <a:gd name="connsiteY40" fmla="*/ 236808 h 2802467"/>
              <a:gd name="connsiteX41" fmla="*/ 11084690 w 12192000"/>
              <a:gd name="connsiteY41" fmla="*/ 194771 h 2802467"/>
              <a:gd name="connsiteX42" fmla="*/ 11362661 w 12192000"/>
              <a:gd name="connsiteY42" fmla="*/ 153085 h 2802467"/>
              <a:gd name="connsiteX43" fmla="*/ 11639412 w 12192000"/>
              <a:gd name="connsiteY43" fmla="*/ 104392 h 2802467"/>
              <a:gd name="connsiteX44" fmla="*/ 11914945 w 12192000"/>
              <a:gd name="connsiteY44" fmla="*/ 54648 h 2802467"/>
              <a:gd name="connsiteX45" fmla="*/ 12191696 w 12192000"/>
              <a:gd name="connsiteY45" fmla="*/ 2452 h 2802467"/>
              <a:gd name="connsiteX46" fmla="*/ 12191696 w 12192000"/>
              <a:gd name="connsiteY46" fmla="*/ 2236410 h 2802467"/>
              <a:gd name="connsiteX47" fmla="*/ 12192000 w 12192000"/>
              <a:gd name="connsiteY47" fmla="*/ 2236410 h 2802467"/>
              <a:gd name="connsiteX48" fmla="*/ 12192000 w 12192000"/>
              <a:gd name="connsiteY48" fmla="*/ 2802467 h 2802467"/>
              <a:gd name="connsiteX49" fmla="*/ 12191696 w 12192000"/>
              <a:gd name="connsiteY49" fmla="*/ 2802467 h 2802467"/>
              <a:gd name="connsiteX50" fmla="*/ 0 w 12192000"/>
              <a:gd name="connsiteY50" fmla="*/ 2802467 h 2802467"/>
              <a:gd name="connsiteX51" fmla="*/ 0 w 12192000"/>
              <a:gd name="connsiteY51" fmla="*/ 2236410 h 2802467"/>
              <a:gd name="connsiteX52" fmla="*/ 1 w 12192000"/>
              <a:gd name="connsiteY52" fmla="*/ 2236410 h 2802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2192000" h="2802467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E97BA-5407-5708-B317-B3453590E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687" y="4854346"/>
            <a:ext cx="8472003" cy="86802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457200">
              <a:lnSpc>
                <a:spcPct val="90000"/>
              </a:lnSpc>
            </a:pPr>
            <a:r>
              <a:rPr lang="en-US" sz="2800" b="1" dirty="0"/>
              <a:t>Total Electricity Output In Ontario in 2024 (Actual)</a:t>
            </a:r>
            <a:br>
              <a:rPr lang="en-US" sz="2800" b="1" dirty="0"/>
            </a:br>
            <a:r>
              <a:rPr lang="en-US" sz="2800" b="1" dirty="0"/>
              <a:t>Source: </a:t>
            </a:r>
            <a:r>
              <a:rPr lang="en-US" sz="2800" b="1" dirty="0">
                <a:hlinkClick r:id="rId8"/>
              </a:rPr>
              <a:t>https://www.ieso.ca/Learn/Ontario-Electricity-Grid/Supply-Mix-and-Generation</a:t>
            </a:r>
            <a:endParaRPr lang="en-US" sz="2600" dirty="0">
              <a:solidFill>
                <a:srgbClr val="EBEBEB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6430D-4A6D-689E-EA0A-647D57F7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54943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7C7ECF-1DB5-C8C6-E09A-301AD6B54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90C959F6-1103-C18C-DDA2-57DC0AB90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0E932651-974B-03D7-A9D6-998F765DF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7CD9A0B0-677F-7E32-6651-8B5C313B7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B48EE63-C586-5BB1-4874-826C5EF54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FDA16B5-D445-5D06-BE59-292E2C9DD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8808E8CA-DB18-7CD0-3A2E-B8363AE44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2B7E1D4-9C04-BFF0-4423-DBE76D61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AE2AE5-F278-D9BE-CF5D-48248BD95C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0146" y="1468161"/>
            <a:ext cx="4639322" cy="2953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FFD876-5E99-7AB5-BB29-5EE069AD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0916" y="3086100"/>
            <a:ext cx="3305636" cy="305795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824F97C-8500-A03F-831B-F0DE03120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98" y="556208"/>
            <a:ext cx="8472003" cy="86802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457200">
              <a:lnSpc>
                <a:spcPct val="90000"/>
              </a:lnSpc>
            </a:pPr>
            <a:br>
              <a:rPr lang="en-US" sz="2800" b="1" dirty="0"/>
            </a:br>
            <a:r>
              <a:rPr lang="en-US" sz="2800" b="1" dirty="0"/>
              <a:t>Comparison of Total Electricity Output in 2024 </a:t>
            </a:r>
            <a:br>
              <a:rPr lang="en-US" sz="2800" b="1" dirty="0"/>
            </a:br>
            <a:endParaRPr lang="en-US" sz="2600" dirty="0">
              <a:solidFill>
                <a:srgbClr val="EBEB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846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9DB226-04C4-499C-1B9E-54A5CABD3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5E95B102-332D-B3BF-D7F3-0A1278E8D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FB713A8-19E5-66F8-C3B0-B7849F59E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83D8D909-D49D-A4C3-7EB1-6DB350C8A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3768CDB-803D-603B-5986-B6F3B088E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1F29809-EC08-E4F8-108F-E42E53E96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D25E49E9-7C73-DD1D-A189-5DB0695AD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9A575-887C-DFFB-860F-5CF252ACC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91" y="267810"/>
            <a:ext cx="7856934" cy="8016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457200">
              <a:lnSpc>
                <a:spcPct val="90000"/>
              </a:lnSpc>
            </a:pPr>
            <a:r>
              <a:rPr kumimoji="0" lang="en-US" sz="290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Total Energy Supply for each Fuel </a:t>
            </a:r>
            <a:br>
              <a:rPr lang="en-US" sz="2900" dirty="0"/>
            </a:br>
            <a:r>
              <a:rPr lang="en-US" sz="2900" dirty="0"/>
              <a:t>for years 2021 – 2025 (Power BI Analysis)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FC9153F-3D20-D8E2-3693-4DDAF5878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F5F5CD-3C98-389C-FD86-122309107E4D}"/>
              </a:ext>
            </a:extLst>
          </p:cNvPr>
          <p:cNvSpPr txBox="1"/>
          <p:nvPr/>
        </p:nvSpPr>
        <p:spPr>
          <a:xfrm>
            <a:off x="1063163" y="1337295"/>
            <a:ext cx="2364819" cy="203132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bg1"/>
                </a:solidFill>
              </a:rPr>
              <a:t>2021 – 2024</a:t>
            </a:r>
          </a:p>
          <a:p>
            <a:r>
              <a:rPr lang="en-CA" dirty="0">
                <a:solidFill>
                  <a:schemeClr val="bg1"/>
                </a:solidFill>
              </a:rPr>
              <a:t>– 1 CSV/ month</a:t>
            </a:r>
          </a:p>
          <a:p>
            <a:r>
              <a:rPr lang="en-CA" dirty="0">
                <a:solidFill>
                  <a:schemeClr val="bg1"/>
                </a:solidFill>
              </a:rPr>
              <a:t>- 48 Files</a:t>
            </a:r>
          </a:p>
          <a:p>
            <a:endParaRPr lang="en-CA" dirty="0">
              <a:solidFill>
                <a:schemeClr val="bg1"/>
              </a:solidFill>
            </a:endParaRPr>
          </a:p>
          <a:p>
            <a:r>
              <a:rPr lang="en-CA" dirty="0">
                <a:solidFill>
                  <a:schemeClr val="bg1"/>
                </a:solidFill>
              </a:rPr>
              <a:t>2025 – Jan – Aug </a:t>
            </a:r>
          </a:p>
          <a:p>
            <a:r>
              <a:rPr lang="en-CA" dirty="0">
                <a:solidFill>
                  <a:schemeClr val="bg1"/>
                </a:solidFill>
              </a:rPr>
              <a:t>– 8 Files</a:t>
            </a:r>
          </a:p>
          <a:p>
            <a:endParaRPr lang="en-CA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23CCF5-EB83-23CA-97A7-04B41446E6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0477" y="1314992"/>
            <a:ext cx="3991532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48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287F3B-E6A7-C114-2229-7F3065B34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31198114-A6A8-C201-6FD8-195712B4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3027759" cy="418831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74625BD-AC7B-8702-20BD-3E93444CA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141809" cy="236545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31BBA2BA-C200-AEF3-5899-1A5C22B7D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6759" y="1676400"/>
            <a:ext cx="211455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AB129FBB-C09C-0841-CD99-A2D602079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5999559" y="0"/>
            <a:ext cx="1202540" cy="1141407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10DEE4E-D11E-E786-83BF-C6ED4C3E8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096000"/>
            <a:ext cx="745301" cy="762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D6D813CF-5003-2B70-991C-A934DC9AA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038FED-2195-8A91-A277-51843B729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91" y="267810"/>
            <a:ext cx="7856934" cy="8016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457200">
              <a:lnSpc>
                <a:spcPct val="90000"/>
              </a:lnSpc>
            </a:pPr>
            <a:r>
              <a:rPr kumimoji="0" lang="en-US" sz="2900" u="none" strike="noStrike" cap="none" spc="0" normalizeH="0" baseline="0" noProof="0" dirty="0">
                <a:ln>
                  <a:noFill/>
                </a:ln>
                <a:effectLst/>
                <a:uLnTx/>
                <a:uFillTx/>
              </a:rPr>
              <a:t>Total Energy Supply for each Fuel </a:t>
            </a:r>
            <a:br>
              <a:rPr lang="en-US" sz="2900" dirty="0"/>
            </a:br>
            <a:r>
              <a:rPr lang="en-US" sz="2900" dirty="0"/>
              <a:t>for years 2021 – 2025 (Power BI Analysis)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227814F-4427-6190-D03B-F7210718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4FBF2B-58FB-7A5F-12AE-767F821556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337295"/>
            <a:ext cx="9144000" cy="50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6419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Key Findings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51611"/>
            <a:ext cx="7567544" cy="4796796"/>
          </a:xfrm>
        </p:spPr>
        <p:txBody>
          <a:bodyPr>
            <a:normAutofit/>
          </a:bodyPr>
          <a:lstStyle/>
          <a:p>
            <a:pPr algn="just"/>
            <a:r>
              <a:rPr lang="en-US" b="1" dirty="0"/>
              <a:t>Ontario demand has remained relatively stable</a:t>
            </a:r>
            <a:r>
              <a:rPr lang="en-US" dirty="0"/>
              <a:t> from 2002–2025</a:t>
            </a:r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Peak demand occurs in summer (June–August)</a:t>
            </a:r>
            <a:r>
              <a:rPr lang="en-US" dirty="0"/>
              <a:t>, mainly driven by air conditioning loads, and in winter evenings.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Nuclear power remains the backbone of Ontario’s supply</a:t>
            </a:r>
            <a:r>
              <a:rPr lang="en-US" dirty="0"/>
              <a:t>, contributing nearly half of total generation.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Gas and hydro act as balancing sources</a:t>
            </a:r>
            <a:r>
              <a:rPr lang="en-US" dirty="0"/>
              <a:t>, adjusting output to meet peak demand, while solar, wind, and biofuels contribute smaller but growing shares.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1671D-E89E-E762-2584-02949A3AF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7281721" cy="1400530"/>
          </a:xfrm>
        </p:spPr>
        <p:txBody>
          <a:bodyPr/>
          <a:lstStyle/>
          <a:p>
            <a:r>
              <a:rPr lang="en-CA" dirty="0"/>
              <a:t>Future Steps – Applying AI in Energy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53249"/>
            <a:ext cx="7207590" cy="4395158"/>
          </a:xfrm>
        </p:spPr>
        <p:txBody>
          <a:bodyPr>
            <a:normAutofit/>
          </a:bodyPr>
          <a:lstStyle/>
          <a:p>
            <a:r>
              <a:rPr lang="en-US" b="1" dirty="0"/>
              <a:t>Renewable Output Forecasting</a:t>
            </a:r>
            <a:endParaRPr lang="en-US" dirty="0"/>
          </a:p>
          <a:p>
            <a:pPr marL="400056" lvl="1" indent="0" algn="just">
              <a:buNone/>
            </a:pPr>
            <a:r>
              <a:rPr lang="en-US" dirty="0"/>
              <a:t>Apply AI to </a:t>
            </a:r>
            <a:r>
              <a:rPr lang="en-US" b="1" dirty="0"/>
              <a:t>predict solar and wind generation</a:t>
            </a:r>
            <a:r>
              <a:rPr lang="en-US" dirty="0"/>
              <a:t> more accurately by integrating weather forecasts, satellite data, and historical patterns.</a:t>
            </a:r>
          </a:p>
          <a:p>
            <a:pPr marL="400056" lvl="1" indent="0" algn="just">
              <a:buNone/>
            </a:pPr>
            <a:endParaRPr lang="en-US" dirty="0"/>
          </a:p>
          <a:p>
            <a:r>
              <a:rPr lang="en-US" b="1" dirty="0"/>
              <a:t>Time-Series Forecasting:</a:t>
            </a:r>
            <a:endParaRPr lang="en-US" dirty="0"/>
          </a:p>
          <a:p>
            <a:pPr marL="400056" lvl="1" indent="0" algn="just">
              <a:buNone/>
            </a:pPr>
            <a:r>
              <a:rPr lang="en-US" dirty="0"/>
              <a:t>Electricity demand and renewable outputs (like solar and wind) are </a:t>
            </a:r>
            <a:r>
              <a:rPr lang="en-US" b="1" dirty="0"/>
              <a:t>time-dependent</a:t>
            </a:r>
            <a:r>
              <a:rPr lang="en-US" dirty="0"/>
              <a:t>, showing daily, weekly, and seasonal patterns.</a:t>
            </a:r>
          </a:p>
          <a:p>
            <a:pPr marL="400056" lvl="1" indent="0" algn="just">
              <a:buNone/>
            </a:pPr>
            <a:endParaRPr lang="en-US" dirty="0"/>
          </a:p>
          <a:p>
            <a:pPr marL="400056" lvl="1" indent="0" algn="just">
              <a:buNone/>
            </a:pPr>
            <a:endParaRPr lang="en-US" dirty="0"/>
          </a:p>
          <a:p>
            <a:pPr marL="400056" lvl="1" indent="0" algn="just">
              <a:buNone/>
            </a:pPr>
            <a:endParaRPr lang="en-US" dirty="0"/>
          </a:p>
          <a:p>
            <a:pPr marL="400056" lvl="1" indent="0" algn="just">
              <a:buNone/>
            </a:pPr>
            <a:endParaRPr lang="en-US" dirty="0"/>
          </a:p>
          <a:p>
            <a:pPr marL="400056" lvl="1" indent="0" algn="just">
              <a:buNone/>
            </a:pPr>
            <a:endParaRPr lang="en-US" dirty="0"/>
          </a:p>
          <a:p>
            <a:pPr marL="0" indent="0">
              <a:buNone/>
              <a:defRPr sz="1800"/>
            </a:pPr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B503A8-4CDC-2C08-21EF-CAC5CBA6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59AFD-00E0-E0B0-7980-828C703C3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F66B7-F698-53B9-F04A-8C872AEEE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790" y="2951323"/>
            <a:ext cx="6476070" cy="9356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                       </a:t>
            </a:r>
            <a:r>
              <a:rPr lang="en-US" sz="3600" b="1" dirty="0"/>
              <a:t>Thank you!</a:t>
            </a:r>
            <a:endParaRPr lang="en-US" dirty="0"/>
          </a:p>
          <a:p>
            <a:pPr marL="400056" lvl="1" indent="0" algn="just">
              <a:buNone/>
            </a:pPr>
            <a:endParaRPr lang="en-US" dirty="0"/>
          </a:p>
          <a:p>
            <a:pPr marL="400056" lvl="1" indent="0" algn="just">
              <a:buNone/>
            </a:pPr>
            <a:endParaRPr lang="en-US" dirty="0"/>
          </a:p>
          <a:p>
            <a:pPr marL="0" indent="0">
              <a:buNone/>
              <a:defRPr sz="1800"/>
            </a:pPr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2487B8-CDBC-21FD-0EC5-E56DEE807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5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6172</TotalTime>
  <Words>926</Words>
  <Application>Microsoft Office PowerPoint</Application>
  <PresentationFormat>On-screen Show (4:3)</PresentationFormat>
  <Paragraphs>142</Paragraphs>
  <Slides>33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Aptos</vt:lpstr>
      <vt:lpstr>Arial</vt:lpstr>
      <vt:lpstr>Calibri</vt:lpstr>
      <vt:lpstr>Century Gothic</vt:lpstr>
      <vt:lpstr>Wingdings 3</vt:lpstr>
      <vt:lpstr>Office Theme</vt:lpstr>
      <vt:lpstr>Ion</vt:lpstr>
      <vt:lpstr>Electricity Demand and Supply Analysis in Ontario  </vt:lpstr>
      <vt:lpstr>Problem Statement</vt:lpstr>
      <vt:lpstr>Content</vt:lpstr>
      <vt:lpstr>Data Collection</vt:lpstr>
      <vt:lpstr>Tools Used</vt:lpstr>
      <vt:lpstr>Energy Demand Analysis</vt:lpstr>
      <vt:lpstr>Energy Demand Analysis</vt:lpstr>
      <vt:lpstr>Ontario Demand vs. Market Demand</vt:lpstr>
      <vt:lpstr>Demands on January 1st, 2025</vt:lpstr>
      <vt:lpstr>Demands on January 1st, 2025</vt:lpstr>
      <vt:lpstr>Daily Energy Consumption – 2025</vt:lpstr>
      <vt:lpstr>Daily Energy Consumption – 2025</vt:lpstr>
      <vt:lpstr>Annual Average Electricity Demand, 2002 to 2025</vt:lpstr>
      <vt:lpstr>Annual Average Electricity Demand, 2002 to 2025</vt:lpstr>
      <vt:lpstr>Energy Supply Analysis</vt:lpstr>
      <vt:lpstr>Energy Supply Analysis</vt:lpstr>
      <vt:lpstr>Energy Supply Analysis</vt:lpstr>
      <vt:lpstr>Daily Energy Supply for each Fuel</vt:lpstr>
      <vt:lpstr>Daily Energy Supply for each Fuel</vt:lpstr>
      <vt:lpstr>Daily Energy Supply for each Fuel</vt:lpstr>
      <vt:lpstr>Daily Energy Supply for Each Fuel</vt:lpstr>
      <vt:lpstr>Total Energy Supply for each Fuel over the month of August, 2025</vt:lpstr>
      <vt:lpstr>Total Energy Supply for each Fuel over the month of August,  2025</vt:lpstr>
      <vt:lpstr>Total Energy Supply for each Fuel over the month of August,  2025</vt:lpstr>
      <vt:lpstr>Total Energy Supply for each Fuel  for years 2021 - 2025</vt:lpstr>
      <vt:lpstr>Total Energy Supply by each Fuel  for years 2021 - 2025</vt:lpstr>
      <vt:lpstr>Total Electricity Output In Ontario in 2024 (Actual) Source: https://www.ieso.ca/Learn/Ontario-Electricity-Grid/Supply-Mix-and-Generation</vt:lpstr>
      <vt:lpstr> Comparison of Total Electricity Output in 2024  </vt:lpstr>
      <vt:lpstr>Total Energy Supply for each Fuel  for years 2021 – 2025 (Power BI Analysis)</vt:lpstr>
      <vt:lpstr>Total Energy Supply for each Fuel  for years 2021 – 2025 (Power BI Analysis)</vt:lpstr>
      <vt:lpstr>Key Findings</vt:lpstr>
      <vt:lpstr>Future Steps – Applying AI in Energy Analysis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SHARIF FAKHRUZ *************** ZAMAN</cp:lastModifiedBy>
  <cp:revision>80</cp:revision>
  <dcterms:created xsi:type="dcterms:W3CDTF">2013-01-27T09:14:16Z</dcterms:created>
  <dcterms:modified xsi:type="dcterms:W3CDTF">2025-09-10T18:10:05Z</dcterms:modified>
  <cp:category/>
</cp:coreProperties>
</file>